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33F"/>
                </a:solidFill>
                <a:latin typeface="Calibri"/>
              </a:defRPr>
            </a:pPr>
            <a:r>
              <a:rPr sz="1300" b="0" i="0" u="none" strike="noStrike">
                <a:solidFill>
                  <a:srgbClr val="16233F"/>
                </a:solidFill>
                <a:latin typeface="Calibri"/>
              </a:rPr>
              <a:t>Result distribution (20 tests)</a:t>
            </a:r>
          </a:p>
        </c:rich>
      </c:tx>
      <c:layout/>
      <c:overlay val="0"/>
    </c:title>
    <c:autoTitleDeleted val="0"/>
    <c:plotArea>
      <c:layout/>
      <c:doughnutChart>
        <c:varyColors val="1"/>
        <c:ser>
          <c:idx val="0"/>
          <c:order val="0"/>
          <c:tx>
            <c:strRef>
              <c:f>Sheet1!$B$1</c:f>
              <c:strCache>
                <c:ptCount val="1"/>
                <c:pt idx="0">
                  <c:v>Results</c:v>
                </c:pt>
              </c:strCache>
            </c:strRef>
          </c:tx>
          <c:spPr>
            <a:solidFill>
              <a:schemeClr val="accent1"/>
            </a:solidFill>
            <a:ln w="9525" cap="flat">
              <a:solidFill>
                <a:srgbClr val="F9F9F9"/>
              </a:solidFill>
              <a:prstDash val="solid"/>
              <a:round/>
            </a:ln>
            <a:effectLst/>
          </c:spPr>
          <c:dPt>
            <c:idx val="0"/>
            <c:bubble3D val="0"/>
            <c:spPr>
              <a:solidFill>
                <a:srgbClr val="0F6E56"/>
              </a:solidFill>
              <a:effectLst/>
            </c:spPr>
          </c:dPt>
          <c:dPt>
            <c:idx val="1"/>
            <c:bubble3D val="0"/>
            <c:spPr>
              <a:solidFill>
                <a:srgbClr val="B8790C"/>
              </a:solidFill>
              <a:effectLst/>
            </c:spPr>
          </c:dPt>
          <c:dPt>
            <c:idx val="2"/>
            <c:bubble3D val="0"/>
            <c:spPr>
              <a:solidFill>
                <a:srgbClr val="5B6B82"/>
              </a:solidFill>
              <a:effectLst/>
            </c:spPr>
          </c:dPt>
          <c:dPt>
            <c:idx val="3"/>
            <c:bubble3D val="0"/>
            <c:spPr>
              <a:solidFill>
                <a:srgbClr val="B8461F"/>
              </a:solidFill>
              <a:effectLst/>
            </c:spPr>
          </c:dPt>
          <c:dLbls>
            <c:dLbl>
              <c:idx val="0"/>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3"/>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Pass</c:v>
                </c:pt>
                <c:pt idx="1">
                  <c:v>Pass (qualified)</c:v>
                </c:pt>
                <c:pt idx="2">
                  <c:v>Inconclusive</c:v>
                </c:pt>
                <c:pt idx="3">
                  <c:v>Not tested</c:v>
                </c:pt>
              </c:strCache>
            </c:strRef>
          </c:cat>
          <c:val>
            <c:numRef>
              <c:f>Sheet1!$B$2:$B$5</c:f>
              <c:numCache>
                <c:ptCount val="4"/>
                <c:pt idx="0">
                  <c:v>15</c:v>
                </c:pt>
                <c:pt idx="1">
                  <c:v>3</c:v>
                </c:pt>
                <c:pt idx="2">
                  <c:v>1</c:v>
                </c:pt>
                <c:pt idx="3">
                  <c:v>1</c:v>
                </c:pt>
              </c:numCache>
            </c:numRef>
          </c:val>
        </c:ser>
        <c:firstSliceAng val="0"/>
        <c:holeSize val="55"/>
      </c:doughnutChart>
      <c:spPr>
        <a:noFill/>
        <a:ln>
          <a:noFill/>
        </a:ln>
        <a:effectLst/>
      </c:spPr>
    </c:plotArea>
    <c:legend>
      <c:legendPos val="b"/>
      <c:overlay val="0"/>
      <c:txPr>
        <a:bodyPr/>
        <a:lstStyle/>
        <a:p>
          <a:pPr>
            <a:defRPr sz="1200">
              <a:solidFill>
                <a:srgbClr val="16233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self-hosted Vaultwarden password manager, deployed and hardened inside a controlled Kali Linux and Docker lab. Emphasise up front that every claim in this deck is backed by a specific test you ran, not just a configuration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three-part approach: deploy and harden iteratively, verify every control directly against the running system, and report honestly where something wasn't tested. Point to the quick-facts card as the one-slide summary of the whole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self-hosting matters: you give up a vendor's security team and take on responsibility for every layer yourself. Frame the rest of the talk as answering: which of those layers actually held up under direct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nine objectives at a high level - deployment and configuration on the left, verification and honest reporting on the right. You don't need to read every bullet; just note that each one maps to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every version number here was pulled directly from the running system - `docker --version`, `vaultwarden --version`, `sqlite3 --version` - not copied from documentation. This matters because it shows the environment is real and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architecture diagram left to right: user, TLS, then inside the container - Rocket, auth/RBAC, the client-side encryption layer, and persistent storage. Stress the key point in the right-hand card: the server never sees plaintext vault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envelope-encryption model briefly: master password -&gt; Argon2id -&gt; master key -&gt; vault encryption. The critical evidence point is the CipherString '2.' prefix you found directly in the SQLite database - that's proof the encryption is actually happening, not just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slide to slow down on. Explain that you found two distinct rejection paths in the server logs - one for a wrong password, one for a missing TOTP code - and that this is stronger evidence than a screenshot of the settings page. Be upfront about the evidence-naming correction; it shows rigor, not sloppiness.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you didn't just create a member role and take Vaultwarden's word for it - you actually logged in as that second, restricted account and confirmed the Admin Console was missing from its navigation. That's the difference between configuring RBAC and verifying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stat tiles: strong encryption, strong iteration count, and - most importantly - a byte-for-byte SHA-256 match after decryption plus a passing SQLite integrity check. This is what makes a backup trustworthy rather than just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here: only the web vault was tested. The other three clients are real Bitwarden-compatible capabilities, but you didn't install or test them, so they're marked honestly as untested rather than implied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weak-password report as a concrete, working feature - the system correctly flagged a genuinely weak test password. Mention the sharing operation was confirmed via API logs even though you don't have a UI screenshot of the share dialog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open finding here deliberately - Vaultwarden itself logged a notice that the admin token was stored in plain text, and that notice reappears in a later log capture, meaning it was never fixed. This is a good example of the report not hiding an uncomfortable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testing philosophy: every one of the twenty tests ties back to a specific command and its output. Where evidence conflicted - like the two different file-permission readings - both readings were reported rather than picking the more flattering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donut chart: fifteen clean passes, three passes with a caveat worth noting, one inconclusive result, and one that was never tested. Spend a moment on the two non-clean results specifically, since those are the most interesting from a security standpoint.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clearly between the two boxes: laboratory constraints are things you chose not to test because they were out of scope, while open findings are things the evidence itself surfaced as unresolved. Neither is a failure - both are honest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recommendations map directly to the findings on the previous two slides. If asked what you'd do next with more time, these are your answer - lead with the admin token and the certificate, since those carry the highest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your summary slide if time is short: twenty tests, fifteen clean passes, two disclosed open findings, and zero fabricated results. That last number is worth emphasising - it's the core academic-integrity claim of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closing statement slowly: configuration and verification are different activities, and a security claim is only as strong as the test behind it. This is the thesis of the whole project - let it land before moving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If asked for evidence on any specific claim, you can point to the exact screenshot or log line in the full written report, since every figure there is numbered and cross-referenced.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6"/>
        </a:solidFill>
      </p:bgPr>
    </p:bg>
    <p:spTree>
      <p:nvGrpSpPr>
        <p:cNvPr id="1" name=""/>
        <p:cNvGrpSpPr/>
        <p:nvPr/>
      </p:nvGrpSpPr>
      <p:grpSpPr>
        <a:xfrm>
          <a:off x="0" y="0"/>
          <a:ext cx="0" cy="0"/>
          <a:chOff x="0" y="0"/>
          <a:chExt cx="0" cy="0"/>
        </a:xfrm>
      </p:grpSpPr>
      <p:sp>
        <p:nvSpPr>
          <p:cNvPr id="2" name="Shape 0"/>
          <p:cNvSpPr/>
          <p:nvPr/>
        </p:nvSpPr>
        <p:spPr>
          <a:xfrm>
            <a:off x="8961120" y="0"/>
            <a:ext cx="3227832" cy="6858000"/>
          </a:xfrm>
          <a:prstGeom prst="rect">
            <a:avLst/>
          </a:prstGeom>
          <a:solidFill>
            <a:srgbClr val="132234"/>
          </a:solidFill>
          <a:ln/>
        </p:spPr>
      </p:sp>
      <p:sp>
        <p:nvSpPr>
          <p:cNvPr id="3" name="Shape 1"/>
          <p:cNvSpPr/>
          <p:nvPr/>
        </p:nvSpPr>
        <p:spPr>
          <a:xfrm>
            <a:off x="9509760" y="2468880"/>
            <a:ext cx="2103120" cy="2103120"/>
          </a:xfrm>
          <a:prstGeom prst="roundRect">
            <a:avLst>
              <a:gd name="adj" fmla="val 8696"/>
            </a:avLst>
          </a:prstGeom>
          <a:solidFill>
            <a:srgbClr val="16304A"/>
          </a:solidFill>
          <a:ln w="19050">
            <a:solidFill>
              <a:srgbClr val="0F6E56"/>
            </a:solidFill>
            <a:prstDash val="solid"/>
          </a:ln>
        </p:spPr>
      </p:sp>
      <p:sp>
        <p:nvSpPr>
          <p:cNvPr id="4" name="Text 2"/>
          <p:cNvSpPr txBox="1"/>
          <p:nvPr/>
        </p:nvSpPr>
        <p:spPr>
          <a:xfrm>
            <a:off x="9509760" y="2468880"/>
            <a:ext cx="2103120" cy="2103120"/>
          </a:xfrm>
          <a:prstGeom prst="rect">
            <a:avLst/>
          </a:prstGeom>
          <a:noFill/>
          <a:ln/>
        </p:spPr>
        <p:txBody>
          <a:bodyPr wrap="square" lIns="0" tIns="0" rIns="0" bIns="0" rtlCol="0" anchor="ctr"/>
          <a:lstStyle/>
          <a:p>
            <a:pPr algn="ctr" indent="0" marL="0">
              <a:buNone/>
            </a:pPr>
            <a:r>
              <a:rPr lang="en-US" sz="4400" b="1" dirty="0">
                <a:solidFill>
                  <a:srgbClr val="0F6E56"/>
                </a:solidFill>
                <a:latin typeface="Cambria" pitchFamily="34" charset="0"/>
                <a:ea typeface="Cambria" pitchFamily="34" charset="-122"/>
                <a:cs typeface="Cambria" pitchFamily="34" charset="-120"/>
              </a:rPr>
              <a:t>VW</a:t>
            </a:r>
            <a:endParaRPr lang="en-US" sz="4400" dirty="0"/>
          </a:p>
        </p:txBody>
      </p:sp>
      <p:sp>
        <p:nvSpPr>
          <p:cNvPr id="5" name="Text 3"/>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200" kern="0" dirty="0">
                <a:solidFill>
                  <a:srgbClr val="0F6E56"/>
                </a:solidFill>
                <a:latin typeface="Calibri" pitchFamily="34" charset="0"/>
                <a:ea typeface="Calibri" pitchFamily="34" charset="-122"/>
                <a:cs typeface="Calibri" pitchFamily="34" charset="-120"/>
              </a:rPr>
              <a:t>CYBERSECURITY PROJECT — FINAL SUBMISSION</a:t>
            </a:r>
            <a:endParaRPr lang="en-US" sz="1300" dirty="0"/>
          </a:p>
        </p:txBody>
      </p:sp>
      <p:sp>
        <p:nvSpPr>
          <p:cNvPr id="6" name="Text 4"/>
          <p:cNvSpPr txBox="1"/>
          <p:nvPr/>
        </p:nvSpPr>
        <p:spPr>
          <a:xfrm>
            <a:off x="640080" y="1874520"/>
            <a:ext cx="8138160" cy="173736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Implementing Security into a</a:t>
            </a:r>
            <a:endParaRPr lang="en-US" sz="3800" dirty="0"/>
          </a:p>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Secure Password Manager Application</a:t>
            </a:r>
            <a:endParaRPr lang="en-US" sz="3800" dirty="0"/>
          </a:p>
        </p:txBody>
      </p:sp>
      <p:sp>
        <p:nvSpPr>
          <p:cNvPr id="7" name="Text 5"/>
          <p:cNvSpPr txBox="1"/>
          <p:nvPr/>
        </p:nvSpPr>
        <p:spPr>
          <a:xfrm>
            <a:off x="640080" y="3703320"/>
            <a:ext cx="7863840" cy="82296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self-hosted Vaultwarden deployment, hardened and independently verified in a controlled Kali Linux / Docker laboratory environment.</a:t>
            </a:r>
            <a:endParaRPr lang="en-US" sz="1500" dirty="0"/>
          </a:p>
        </p:txBody>
      </p:sp>
      <p:sp>
        <p:nvSpPr>
          <p:cNvPr id="8" name="Text 6"/>
          <p:cNvSpPr txBox="1"/>
          <p:nvPr/>
        </p:nvSpPr>
        <p:spPr>
          <a:xfrm>
            <a:off x="640080" y="5806440"/>
            <a:ext cx="548640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Mohammed Ali</a:t>
            </a:r>
            <a:endParaRPr lang="en-US" sz="1400" dirty="0"/>
          </a:p>
          <a:p>
            <a:pPr indent="0" marL="0">
              <a:buNone/>
            </a:pPr>
            <a:r>
              <a:rPr lang="en-US" sz="1250" dirty="0">
                <a:solidFill>
                  <a:srgbClr val="9FB2CC"/>
                </a:solidFill>
                <a:latin typeface="Calibri" pitchFamily="34" charset="0"/>
                <a:ea typeface="Calibri" pitchFamily="34" charset="-122"/>
                <a:cs typeface="Calibri" pitchFamily="34" charset="-120"/>
              </a:rPr>
              <a:t>18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PROJECT OVERVIEW</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Hardening a self-hosted password manager</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sp>
        <p:nvSpPr>
          <p:cNvPr id="5" name="Text 3"/>
          <p:cNvSpPr txBox="1"/>
          <p:nvPr/>
        </p:nvSpPr>
        <p:spPr>
          <a:xfrm>
            <a:off x="548640" y="1600200"/>
            <a:ext cx="6766560" cy="1188720"/>
          </a:xfrm>
          <a:prstGeom prst="rect">
            <a:avLst/>
          </a:prstGeom>
          <a:noFill/>
          <a:ln/>
        </p:spPr>
        <p:txBody>
          <a:bodyPr wrap="square" lIns="0" tIns="0" rIns="0" bIns="0" rtlCol="0" anchor="ctr"/>
          <a:lstStyle/>
          <a:p>
            <a:pPr indent="0" marL="0">
              <a:lnSpc>
                <a:spcPct val="115000"/>
              </a:lnSpc>
              <a:buNone/>
            </a:pPr>
            <a:r>
              <a:rPr lang="en-US" sz="1450" dirty="0">
                <a:solidFill>
                  <a:srgbClr val="16233F"/>
                </a:solidFill>
                <a:latin typeface="Calibri" pitchFamily="34" charset="0"/>
                <a:ea typeface="Calibri" pitchFamily="34" charset="-122"/>
                <a:cs typeface="Calibri" pitchFamily="34" charset="-120"/>
              </a:rPr>
              <a:t>This project deployed Vaultwarden — an unofficial, self-hosted Bitwarden-compatible server — inside Docker on Kali Linux, applied a defined set of security controls, and verified each one directly against the running system rather than relying on configuration alone.</a:t>
            </a:r>
            <a:endParaRPr lang="en-US" sz="1450" dirty="0"/>
          </a:p>
        </p:txBody>
      </p:sp>
      <p:sp>
        <p:nvSpPr>
          <p:cNvPr id="6" name="Shape 4"/>
          <p:cNvSpPr/>
          <p:nvPr/>
        </p:nvSpPr>
        <p:spPr>
          <a:xfrm>
            <a:off x="548640" y="2926080"/>
            <a:ext cx="566928" cy="566928"/>
          </a:xfrm>
          <a:prstGeom prst="roundRect">
            <a:avLst>
              <a:gd name="adj" fmla="val 12903"/>
            </a:avLst>
          </a:prstGeom>
          <a:solidFill>
            <a:srgbClr val="E7F4EF"/>
          </a:solidFill>
          <a:ln w="12700">
            <a:solidFill>
              <a:srgbClr val="0F6E56"/>
            </a:solidFill>
            <a:prstDash val="solid"/>
          </a:ln>
        </p:spPr>
      </p:sp>
      <p:sp>
        <p:nvSpPr>
          <p:cNvPr id="7" name="Text 5"/>
          <p:cNvSpPr txBox="1"/>
          <p:nvPr/>
        </p:nvSpPr>
        <p:spPr>
          <a:xfrm>
            <a:off x="548640" y="2926080"/>
            <a:ext cx="566928" cy="566928"/>
          </a:xfrm>
          <a:prstGeom prst="rect">
            <a:avLst/>
          </a:prstGeom>
          <a:noFill/>
          <a:ln/>
        </p:spPr>
        <p:txBody>
          <a:bodyPr wrap="square" lIns="0" tIns="0" rIns="0" bIns="0" rtlCol="0" anchor="ctr"/>
          <a:lstStyle/>
          <a:p>
            <a:pPr algn="ctr" indent="0" marL="0">
              <a:buNone/>
            </a:pPr>
            <a:r>
              <a:rPr lang="en-US" sz="1100" b="1" dirty="0">
                <a:solidFill>
                  <a:srgbClr val="0B4B3B"/>
                </a:solidFill>
                <a:latin typeface="Calibri" pitchFamily="34" charset="0"/>
                <a:ea typeface="Calibri" pitchFamily="34" charset="-122"/>
                <a:cs typeface="Calibri" pitchFamily="34" charset="-120"/>
              </a:rPr>
              <a:t>DEP</a:t>
            </a:r>
            <a:endParaRPr lang="en-US" sz="1100" dirty="0"/>
          </a:p>
        </p:txBody>
      </p:sp>
      <p:sp>
        <p:nvSpPr>
          <p:cNvPr id="8" name="Text 6"/>
          <p:cNvSpPr txBox="1"/>
          <p:nvPr/>
        </p:nvSpPr>
        <p:spPr>
          <a:xfrm>
            <a:off x="1252728" y="2926080"/>
            <a:ext cx="6062472" cy="566928"/>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Deploy Vaultwarden via Docker Compose, then harden it iteratively (HTTP → HTTPS/TLS)</a:t>
            </a:r>
            <a:endParaRPr lang="en-US" sz="1300" dirty="0"/>
          </a:p>
        </p:txBody>
      </p:sp>
      <p:sp>
        <p:nvSpPr>
          <p:cNvPr id="9" name="Shape 7"/>
          <p:cNvSpPr/>
          <p:nvPr/>
        </p:nvSpPr>
        <p:spPr>
          <a:xfrm>
            <a:off x="548640" y="3703320"/>
            <a:ext cx="566928" cy="566928"/>
          </a:xfrm>
          <a:prstGeom prst="roundRect">
            <a:avLst>
              <a:gd name="adj" fmla="val 12903"/>
            </a:avLst>
          </a:prstGeom>
          <a:solidFill>
            <a:srgbClr val="E7F4EF"/>
          </a:solidFill>
          <a:ln w="12700">
            <a:solidFill>
              <a:srgbClr val="0F6E56"/>
            </a:solidFill>
            <a:prstDash val="solid"/>
          </a:ln>
        </p:spPr>
      </p:sp>
      <p:sp>
        <p:nvSpPr>
          <p:cNvPr id="10" name="Text 8"/>
          <p:cNvSpPr txBox="1"/>
          <p:nvPr/>
        </p:nvSpPr>
        <p:spPr>
          <a:xfrm>
            <a:off x="548640" y="3703320"/>
            <a:ext cx="566928" cy="566928"/>
          </a:xfrm>
          <a:prstGeom prst="rect">
            <a:avLst/>
          </a:prstGeom>
          <a:noFill/>
          <a:ln/>
        </p:spPr>
        <p:txBody>
          <a:bodyPr wrap="square" lIns="0" tIns="0" rIns="0" bIns="0" rtlCol="0" anchor="ctr"/>
          <a:lstStyle/>
          <a:p>
            <a:pPr algn="ctr" indent="0" marL="0">
              <a:buNone/>
            </a:pPr>
            <a:r>
              <a:rPr lang="en-US" sz="1100" b="1" dirty="0">
                <a:solidFill>
                  <a:srgbClr val="0B4B3B"/>
                </a:solidFill>
                <a:latin typeface="Calibri" pitchFamily="34" charset="0"/>
                <a:ea typeface="Calibri" pitchFamily="34" charset="-122"/>
                <a:cs typeface="Calibri" pitchFamily="34" charset="-120"/>
              </a:rPr>
              <a:t>VER</a:t>
            </a:r>
            <a:endParaRPr lang="en-US" sz="1100" dirty="0"/>
          </a:p>
        </p:txBody>
      </p:sp>
      <p:sp>
        <p:nvSpPr>
          <p:cNvPr id="11" name="Text 9"/>
          <p:cNvSpPr txBox="1"/>
          <p:nvPr/>
        </p:nvSpPr>
        <p:spPr>
          <a:xfrm>
            <a:off x="1252728" y="3703320"/>
            <a:ext cx="6062472" cy="566928"/>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Verify every control directly: curl, openssl, sqlite3, and docker logs — not just configuration screenshots</a:t>
            </a:r>
            <a:endParaRPr lang="en-US" sz="1300" dirty="0"/>
          </a:p>
        </p:txBody>
      </p:sp>
      <p:sp>
        <p:nvSpPr>
          <p:cNvPr id="12" name="Shape 10"/>
          <p:cNvSpPr/>
          <p:nvPr/>
        </p:nvSpPr>
        <p:spPr>
          <a:xfrm>
            <a:off x="548640" y="4480560"/>
            <a:ext cx="566928" cy="566928"/>
          </a:xfrm>
          <a:prstGeom prst="roundRect">
            <a:avLst>
              <a:gd name="adj" fmla="val 12903"/>
            </a:avLst>
          </a:prstGeom>
          <a:solidFill>
            <a:srgbClr val="E7F4EF"/>
          </a:solidFill>
          <a:ln w="12700">
            <a:solidFill>
              <a:srgbClr val="0F6E56"/>
            </a:solidFill>
            <a:prstDash val="solid"/>
          </a:ln>
        </p:spPr>
      </p:sp>
      <p:sp>
        <p:nvSpPr>
          <p:cNvPr id="13" name="Text 11"/>
          <p:cNvSpPr txBox="1"/>
          <p:nvPr/>
        </p:nvSpPr>
        <p:spPr>
          <a:xfrm>
            <a:off x="548640" y="4480560"/>
            <a:ext cx="566928" cy="566928"/>
          </a:xfrm>
          <a:prstGeom prst="rect">
            <a:avLst/>
          </a:prstGeom>
          <a:noFill/>
          <a:ln/>
        </p:spPr>
        <p:txBody>
          <a:bodyPr wrap="square" lIns="0" tIns="0" rIns="0" bIns="0" rtlCol="0" anchor="ctr"/>
          <a:lstStyle/>
          <a:p>
            <a:pPr algn="ctr" indent="0" marL="0">
              <a:buNone/>
            </a:pPr>
            <a:r>
              <a:rPr lang="en-US" sz="1100" b="1" dirty="0">
                <a:solidFill>
                  <a:srgbClr val="0B4B3B"/>
                </a:solidFill>
                <a:latin typeface="Calibri" pitchFamily="34" charset="0"/>
                <a:ea typeface="Calibri" pitchFamily="34" charset="-122"/>
                <a:cs typeface="Calibri" pitchFamily="34" charset="-120"/>
              </a:rPr>
              <a:t>HON</a:t>
            </a:r>
            <a:endParaRPr lang="en-US" sz="1100" dirty="0"/>
          </a:p>
        </p:txBody>
      </p:sp>
      <p:sp>
        <p:nvSpPr>
          <p:cNvPr id="14" name="Text 12"/>
          <p:cNvSpPr txBox="1"/>
          <p:nvPr/>
        </p:nvSpPr>
        <p:spPr>
          <a:xfrm>
            <a:off x="1252728" y="4480560"/>
            <a:ext cx="6062472" cy="566928"/>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Report honestly: distinguish verified results from documented-but-untested capabilities</a:t>
            </a:r>
            <a:endParaRPr lang="en-US" sz="1300" dirty="0"/>
          </a:p>
        </p:txBody>
      </p:sp>
      <p:sp>
        <p:nvSpPr>
          <p:cNvPr id="15" name="Shape 13"/>
          <p:cNvSpPr/>
          <p:nvPr/>
        </p:nvSpPr>
        <p:spPr>
          <a:xfrm>
            <a:off x="7635240" y="1600200"/>
            <a:ext cx="4023360" cy="4434840"/>
          </a:xfrm>
          <a:prstGeom prst="roundRect">
            <a:avLst>
              <a:gd name="adj" fmla="val 1591"/>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6" name="Text 14"/>
          <p:cNvSpPr txBox="1"/>
          <p:nvPr/>
        </p:nvSpPr>
        <p:spPr>
          <a:xfrm>
            <a:off x="7836408" y="1764792"/>
            <a:ext cx="3621024" cy="329184"/>
          </a:xfrm>
          <a:prstGeom prst="rect">
            <a:avLst/>
          </a:prstGeom>
          <a:noFill/>
          <a:ln/>
        </p:spPr>
        <p:txBody>
          <a:bodyPr wrap="square" lIns="0" tIns="0" rIns="0" bIns="0"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At a glance</a:t>
            </a:r>
            <a:endParaRPr lang="en-US" sz="1500" dirty="0"/>
          </a:p>
        </p:txBody>
      </p:sp>
      <p:sp>
        <p:nvSpPr>
          <p:cNvPr id="17" name="Text 15"/>
          <p:cNvSpPr txBox="1"/>
          <p:nvPr/>
        </p:nvSpPr>
        <p:spPr>
          <a:xfrm>
            <a:off x="7836408" y="2148840"/>
            <a:ext cx="3621024" cy="37490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Vaultwarden 1.37.2 (Web-Vault 2026.7.0)</a:t>
            </a:r>
            <a:endParaRPr lang="en-US" sz="1300" dirty="0"/>
          </a:p>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Kali GNU/Linux Rolling 2026.3, Docker 28.5.2</a:t>
            </a:r>
            <a:endParaRPr lang="en-US" sz="1300" dirty="0"/>
          </a:p>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HTTPS/TLS + Argon2id + TOTP MFA</a:t>
            </a:r>
            <a:endParaRPr lang="en-US" sz="1300" dirty="0"/>
          </a:p>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RBAC via organization + collections</a:t>
            </a:r>
            <a:endParaRPr lang="en-US" sz="1300" dirty="0"/>
          </a:p>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AES-256-CBC/PBKDF2 encrypted, restore-tested backups</a:t>
            </a:r>
            <a:endParaRPr lang="en-US" sz="1300" dirty="0"/>
          </a:p>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20 direct security tests performed</a:t>
            </a:r>
            <a:endParaRPr lang="en-US" sz="1300" dirty="0"/>
          </a:p>
        </p:txBody>
      </p:sp>
      <p:sp>
        <p:nvSpPr>
          <p:cNvPr id="18" name="Text 1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9" name="Text 17"/>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Self-hosting shifts the security burden to the operator</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sp>
        <p:nvSpPr>
          <p:cNvPr id="5" name="Text 3"/>
          <p:cNvSpPr txBox="1"/>
          <p:nvPr/>
        </p:nvSpPr>
        <p:spPr>
          <a:xfrm>
            <a:off x="548640" y="1600200"/>
            <a:ext cx="11064240" cy="777240"/>
          </a:xfrm>
          <a:prstGeom prst="rect">
            <a:avLst/>
          </a:prstGeom>
          <a:noFill/>
          <a:ln/>
        </p:spPr>
        <p:txBody>
          <a:bodyPr wrap="square" lIns="0" tIns="0" rIns="0" bIns="0" rtlCol="0" anchor="ctr"/>
          <a:lstStyle/>
          <a:p>
            <a:pPr indent="0" marL="0">
              <a:lnSpc>
                <a:spcPct val="115000"/>
              </a:lnSpc>
              <a:buNone/>
            </a:pPr>
            <a:r>
              <a:rPr lang="en-US" sz="1450" dirty="0">
                <a:solidFill>
                  <a:srgbClr val="16233F"/>
                </a:solidFill>
                <a:latin typeface="Calibri" pitchFamily="34" charset="0"/>
                <a:ea typeface="Calibri" pitchFamily="34" charset="-122"/>
                <a:cs typeface="Calibri" pitchFamily="34" charset="-120"/>
              </a:rPr>
              <a:t>Password managers concentrate enormous value behind one master secret. Self-hosting removes reliance on a vendor’s security team — but every layer that vendor would normally secure now has to be configured and verified by the operator.</a:t>
            </a:r>
            <a:endParaRPr lang="en-US" sz="1450" dirty="0"/>
          </a:p>
        </p:txBody>
      </p:sp>
      <p:sp>
        <p:nvSpPr>
          <p:cNvPr id="6" name="Shape 4"/>
          <p:cNvSpPr/>
          <p:nvPr/>
        </p:nvSpPr>
        <p:spPr>
          <a:xfrm>
            <a:off x="548640" y="2606040"/>
            <a:ext cx="5394960" cy="3429000"/>
          </a:xfrm>
          <a:prstGeom prst="roundRect">
            <a:avLst>
              <a:gd name="adj" fmla="val 1867"/>
            </a:avLst>
          </a:prstGeom>
          <a:solidFill>
            <a:srgbClr val="EAF2FB"/>
          </a:solidFill>
          <a:ln w="12700">
            <a:solidFill>
              <a:srgbClr val="3060A8"/>
            </a:solidFill>
            <a:prstDash val="solid"/>
          </a:ln>
          <a:effectLst>
            <a:outerShdw sx="100000" sy="100000" kx="0" ky="0" algn="bl" rotWithShape="0" blurRad="76200" dist="25400" dir="5400000">
              <a:srgbClr val="1B2A4A">
                <a:alpha val="10000"/>
              </a:srgbClr>
            </a:outerShdw>
          </a:effectLst>
        </p:spPr>
      </p:sp>
      <p:sp>
        <p:nvSpPr>
          <p:cNvPr id="7" name="Text 5"/>
          <p:cNvSpPr txBox="1"/>
          <p:nvPr/>
        </p:nvSpPr>
        <p:spPr>
          <a:xfrm>
            <a:off x="749808" y="2770632"/>
            <a:ext cx="4992624" cy="329184"/>
          </a:xfrm>
          <a:prstGeom prst="rect">
            <a:avLst/>
          </a:prstGeom>
          <a:noFill/>
          <a:ln/>
        </p:spPr>
        <p:txBody>
          <a:bodyPr wrap="square" lIns="0" tIns="0" rIns="0" bIns="0" rtlCol="0" anchor="ctr"/>
          <a:lstStyle/>
          <a:p>
            <a:pPr indent="0" marL="0">
              <a:buNone/>
            </a:pPr>
            <a:r>
              <a:rPr lang="en-US" sz="1400" b="1" dirty="0">
                <a:solidFill>
                  <a:srgbClr val="1B3A66"/>
                </a:solidFill>
                <a:latin typeface="Calibri" pitchFamily="34" charset="0"/>
                <a:ea typeface="Calibri" pitchFamily="34" charset="-122"/>
                <a:cs typeface="Calibri" pitchFamily="34" charset="-120"/>
              </a:rPr>
              <a:t>What a vendor normally secures</a:t>
            </a:r>
            <a:endParaRPr lang="en-US" sz="1400" dirty="0"/>
          </a:p>
        </p:txBody>
      </p:sp>
      <p:sp>
        <p:nvSpPr>
          <p:cNvPr id="8" name="Text 6"/>
          <p:cNvSpPr txBox="1"/>
          <p:nvPr/>
        </p:nvSpPr>
        <p:spPr>
          <a:xfrm>
            <a:off x="749808" y="3154680"/>
            <a:ext cx="4992624" cy="27432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Transport encryption (TLS, certificates)</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Key derivation and vault-level cryptography</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Multi-factor authentication enforcement</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Access control between users/organizations</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Backup integrity and disaster recovery</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Security monitoring and incident response</a:t>
            </a:r>
            <a:endParaRPr lang="en-US" sz="1350" dirty="0"/>
          </a:p>
        </p:txBody>
      </p:sp>
      <p:sp>
        <p:nvSpPr>
          <p:cNvPr id="9" name="Shape 7"/>
          <p:cNvSpPr/>
          <p:nvPr/>
        </p:nvSpPr>
        <p:spPr>
          <a:xfrm>
            <a:off x="6217920" y="2606040"/>
            <a:ext cx="5440680" cy="3429000"/>
          </a:xfrm>
          <a:prstGeom prst="roundRect">
            <a:avLst>
              <a:gd name="adj" fmla="val 1867"/>
            </a:avLst>
          </a:prstGeom>
          <a:solidFill>
            <a:srgbClr val="E7F4EF"/>
          </a:solidFill>
          <a:ln w="12700">
            <a:solidFill>
              <a:srgbClr val="0F6E56"/>
            </a:solidFill>
            <a:prstDash val="solid"/>
          </a:ln>
          <a:effectLst>
            <a:outerShdw sx="100000" sy="100000" kx="0" ky="0" algn="bl" rotWithShape="0" blurRad="76200" dist="25400" dir="5400000">
              <a:srgbClr val="1B2A4A">
                <a:alpha val="10000"/>
              </a:srgbClr>
            </a:outerShdw>
          </a:effectLst>
        </p:spPr>
      </p:sp>
      <p:sp>
        <p:nvSpPr>
          <p:cNvPr id="10" name="Text 8"/>
          <p:cNvSpPr txBox="1"/>
          <p:nvPr/>
        </p:nvSpPr>
        <p:spPr>
          <a:xfrm>
            <a:off x="6419088" y="2770632"/>
            <a:ext cx="5038344" cy="329184"/>
          </a:xfrm>
          <a:prstGeom prst="rect">
            <a:avLst/>
          </a:prstGeom>
          <a:noFill/>
          <a:ln/>
        </p:spPr>
        <p:txBody>
          <a:bodyPr wrap="square" lIns="0" tIns="0" rIns="0" bIns="0" rtlCol="0" anchor="ctr"/>
          <a:lstStyle/>
          <a:p>
            <a:pPr indent="0" marL="0">
              <a:buNone/>
            </a:pPr>
            <a:r>
              <a:rPr lang="en-US" sz="1400" b="1" dirty="0">
                <a:solidFill>
                  <a:srgbClr val="0B4B3B"/>
                </a:solidFill>
                <a:latin typeface="Calibri" pitchFamily="34" charset="0"/>
                <a:ea typeface="Calibri" pitchFamily="34" charset="-122"/>
                <a:cs typeface="Calibri" pitchFamily="34" charset="-120"/>
              </a:rPr>
              <a:t>The question this project asks</a:t>
            </a:r>
            <a:endParaRPr lang="en-US" sz="1400" dirty="0"/>
          </a:p>
        </p:txBody>
      </p:sp>
      <p:sp>
        <p:nvSpPr>
          <p:cNvPr id="11" name="Text 9"/>
          <p:cNvSpPr txBox="1"/>
          <p:nvPr/>
        </p:nvSpPr>
        <p:spPr>
          <a:xfrm>
            <a:off x="6419088" y="3154680"/>
            <a:ext cx="5038344" cy="27432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When Vaultwarden is deployed and then deliberately hardened across these layers...</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...which controls can be shown to actually work, when tested directly...</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...and which limitations honestly remain, rather than being assumed away?</a:t>
            </a:r>
            <a:endParaRPr lang="en-US" sz="1350" dirty="0"/>
          </a:p>
        </p:txBody>
      </p:sp>
      <p:sp>
        <p:nvSpPr>
          <p:cNvPr id="12" name="Text 1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3" name="Text 11"/>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OBJECTIVES &amp; REQUIREMENTS</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Nine objectives, tested end to end</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sp>
        <p:nvSpPr>
          <p:cNvPr id="5" name="Shape 3"/>
          <p:cNvSpPr/>
          <p:nvPr/>
        </p:nvSpPr>
        <p:spPr>
          <a:xfrm>
            <a:off x="548640" y="1600200"/>
            <a:ext cx="5440680" cy="4480560"/>
          </a:xfrm>
          <a:prstGeom prst="roundRect">
            <a:avLst>
              <a:gd name="adj" fmla="val 1429"/>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6" name="Text 4"/>
          <p:cNvSpPr txBox="1"/>
          <p:nvPr/>
        </p:nvSpPr>
        <p:spPr>
          <a:xfrm>
            <a:off x="749808" y="1764792"/>
            <a:ext cx="503834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Build &amp; configure</a:t>
            </a:r>
            <a:endParaRPr lang="en-US" sz="1400" dirty="0"/>
          </a:p>
        </p:txBody>
      </p:sp>
      <p:sp>
        <p:nvSpPr>
          <p:cNvPr id="7" name="Text 5"/>
          <p:cNvSpPr txBox="1"/>
          <p:nvPr/>
        </p:nvSpPr>
        <p:spPr>
          <a:xfrm>
            <a:off x="749808" y="2148840"/>
            <a:ext cx="5038344" cy="3794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Deploy Vaultwarden with Docker / Docker Compose</a:t>
            </a:r>
            <a:endParaRPr lang="en-US" sz="1400" dirty="0"/>
          </a:p>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Configure and verify HTTPS/TLS transport protection</a:t>
            </a:r>
            <a:endParaRPr lang="en-US" sz="1400" dirty="0"/>
          </a:p>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Configure Argon2id and inspect vault ciphertext format</a:t>
            </a:r>
            <a:endParaRPr lang="en-US" sz="1400" dirty="0"/>
          </a:p>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Enable and test TOTP MFA, including a failure path</a:t>
            </a:r>
            <a:endParaRPr lang="en-US" sz="1400" dirty="0"/>
          </a:p>
        </p:txBody>
      </p:sp>
      <p:sp>
        <p:nvSpPr>
          <p:cNvPr id="8" name="Shape 6"/>
          <p:cNvSpPr/>
          <p:nvPr/>
        </p:nvSpPr>
        <p:spPr>
          <a:xfrm>
            <a:off x="6217920" y="1600200"/>
            <a:ext cx="5440680" cy="4480560"/>
          </a:xfrm>
          <a:prstGeom prst="roundRect">
            <a:avLst>
              <a:gd name="adj" fmla="val 1429"/>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9" name="Text 7"/>
          <p:cNvSpPr txBox="1"/>
          <p:nvPr/>
        </p:nvSpPr>
        <p:spPr>
          <a:xfrm>
            <a:off x="6419088" y="1764792"/>
            <a:ext cx="503834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Verify &amp; report</a:t>
            </a:r>
            <a:endParaRPr lang="en-US" sz="1400" dirty="0"/>
          </a:p>
        </p:txBody>
      </p:sp>
      <p:sp>
        <p:nvSpPr>
          <p:cNvPr id="10" name="Text 8"/>
          <p:cNvSpPr txBox="1"/>
          <p:nvPr/>
        </p:nvSpPr>
        <p:spPr>
          <a:xfrm>
            <a:off x="6419088" y="2148840"/>
            <a:ext cx="5038344" cy="3794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Create an org/collection RBAC structure; verify with a second account</a:t>
            </a:r>
            <a:endParaRPr lang="en-US" sz="1400" dirty="0"/>
          </a:p>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Create, encrypt, and successfully restore backups</a:t>
            </a:r>
            <a:endParaRPr lang="en-US" sz="1400" dirty="0"/>
          </a:p>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Exercise usability features (search, password health)</a:t>
            </a:r>
            <a:endParaRPr lang="en-US" sz="1400" dirty="0"/>
          </a:p>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Capture logs and produce honest limitations + recommendations</a:t>
            </a:r>
            <a:endParaRPr lang="en-US" sz="1400" dirty="0"/>
          </a:p>
        </p:txBody>
      </p:sp>
      <p:sp>
        <p:nvSpPr>
          <p:cNvPr id="11" name="Text 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2" name="Text 10"/>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TECHNOLOGY STACK</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Verified directly from the running system</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sp>
        <p:nvSpPr>
          <p:cNvPr id="5" name="Shape 3"/>
          <p:cNvSpPr/>
          <p:nvPr/>
        </p:nvSpPr>
        <p:spPr>
          <a:xfrm>
            <a:off x="548640" y="1691640"/>
            <a:ext cx="548640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6" name="Shape 4"/>
          <p:cNvSpPr/>
          <p:nvPr/>
        </p:nvSpPr>
        <p:spPr>
          <a:xfrm>
            <a:off x="749808" y="2071116"/>
            <a:ext cx="658368" cy="658368"/>
          </a:xfrm>
          <a:prstGeom prst="roundRect">
            <a:avLst>
              <a:gd name="adj" fmla="val 13889"/>
            </a:avLst>
          </a:prstGeom>
          <a:solidFill>
            <a:srgbClr val="E7F4EF"/>
          </a:solidFill>
          <a:ln w="12700">
            <a:solidFill>
              <a:srgbClr val="0F6E56"/>
            </a:solidFill>
            <a:prstDash val="solid"/>
          </a:ln>
        </p:spPr>
      </p:sp>
      <p:sp>
        <p:nvSpPr>
          <p:cNvPr id="7" name="Text 5"/>
          <p:cNvSpPr txBox="1"/>
          <p:nvPr/>
        </p:nvSpPr>
        <p:spPr>
          <a:xfrm>
            <a:off x="749808" y="2071116"/>
            <a:ext cx="658368" cy="658368"/>
          </a:xfrm>
          <a:prstGeom prst="rect">
            <a:avLst/>
          </a:prstGeom>
          <a:noFill/>
          <a:ln/>
        </p:spPr>
        <p:txBody>
          <a:bodyPr wrap="square" lIns="0" tIns="0" rIns="0" bIns="0" rtlCol="0" anchor="ctr"/>
          <a:lstStyle/>
          <a:p>
            <a:pPr algn="ctr" indent="0" marL="0">
              <a:buNone/>
            </a:pPr>
            <a:r>
              <a:rPr lang="en-US" sz="1200" b="1" dirty="0">
                <a:solidFill>
                  <a:srgbClr val="0B4B3B"/>
                </a:solidFill>
                <a:latin typeface="Calibri" pitchFamily="34" charset="0"/>
                <a:ea typeface="Calibri" pitchFamily="34" charset="-122"/>
                <a:cs typeface="Calibri" pitchFamily="34" charset="-120"/>
              </a:rPr>
              <a:t>OS</a:t>
            </a:r>
            <a:endParaRPr lang="en-US" sz="1200" dirty="0"/>
          </a:p>
        </p:txBody>
      </p:sp>
      <p:sp>
        <p:nvSpPr>
          <p:cNvPr id="8" name="Text 6"/>
          <p:cNvSpPr txBox="1"/>
          <p:nvPr/>
        </p:nvSpPr>
        <p:spPr>
          <a:xfrm>
            <a:off x="1554480" y="1892808"/>
            <a:ext cx="4297680" cy="457200"/>
          </a:xfrm>
          <a:prstGeom prst="rect">
            <a:avLst/>
          </a:prstGeom>
          <a:noFill/>
          <a:ln/>
        </p:spPr>
        <p:txBody>
          <a:bodyPr wrap="square" lIns="0" tIns="0" rIns="0" bIns="0"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Kali GNU/Linux Rolling 2026.3</a:t>
            </a:r>
            <a:endParaRPr lang="en-US" sz="1500" dirty="0"/>
          </a:p>
        </p:txBody>
      </p:sp>
      <p:sp>
        <p:nvSpPr>
          <p:cNvPr id="9" name="Text 7"/>
          <p:cNvSpPr txBox="1"/>
          <p:nvPr/>
        </p:nvSpPr>
        <p:spPr>
          <a:xfrm>
            <a:off x="1554480" y="2377440"/>
            <a:ext cx="4297680" cy="45720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kernel 7.0.12-2kali1</a:t>
            </a:r>
            <a:endParaRPr lang="en-US" sz="1200" dirty="0"/>
          </a:p>
        </p:txBody>
      </p:sp>
      <p:sp>
        <p:nvSpPr>
          <p:cNvPr id="10" name="Shape 8"/>
          <p:cNvSpPr/>
          <p:nvPr/>
        </p:nvSpPr>
        <p:spPr>
          <a:xfrm>
            <a:off x="6355080" y="1691640"/>
            <a:ext cx="548640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1" name="Shape 9"/>
          <p:cNvSpPr/>
          <p:nvPr/>
        </p:nvSpPr>
        <p:spPr>
          <a:xfrm>
            <a:off x="6556248" y="2071116"/>
            <a:ext cx="658368" cy="658368"/>
          </a:xfrm>
          <a:prstGeom prst="roundRect">
            <a:avLst>
              <a:gd name="adj" fmla="val 13889"/>
            </a:avLst>
          </a:prstGeom>
          <a:solidFill>
            <a:srgbClr val="E7F4EF"/>
          </a:solidFill>
          <a:ln w="12700">
            <a:solidFill>
              <a:srgbClr val="0F6E56"/>
            </a:solidFill>
            <a:prstDash val="solid"/>
          </a:ln>
        </p:spPr>
      </p:sp>
      <p:sp>
        <p:nvSpPr>
          <p:cNvPr id="12" name="Text 10"/>
          <p:cNvSpPr txBox="1"/>
          <p:nvPr/>
        </p:nvSpPr>
        <p:spPr>
          <a:xfrm>
            <a:off x="6556248" y="2071116"/>
            <a:ext cx="658368" cy="658368"/>
          </a:xfrm>
          <a:prstGeom prst="rect">
            <a:avLst/>
          </a:prstGeom>
          <a:noFill/>
          <a:ln/>
        </p:spPr>
        <p:txBody>
          <a:bodyPr wrap="square" lIns="0" tIns="0" rIns="0" bIns="0" rtlCol="0" anchor="ctr"/>
          <a:lstStyle/>
          <a:p>
            <a:pPr algn="ctr" indent="0" marL="0">
              <a:buNone/>
            </a:pPr>
            <a:r>
              <a:rPr lang="en-US" sz="1200" b="1" dirty="0">
                <a:solidFill>
                  <a:srgbClr val="0B4B3B"/>
                </a:solidFill>
                <a:latin typeface="Calibri" pitchFamily="34" charset="0"/>
                <a:ea typeface="Calibri" pitchFamily="34" charset="-122"/>
                <a:cs typeface="Calibri" pitchFamily="34" charset="-120"/>
              </a:rPr>
              <a:t>DKR</a:t>
            </a:r>
            <a:endParaRPr lang="en-US" sz="1200" dirty="0"/>
          </a:p>
        </p:txBody>
      </p:sp>
      <p:sp>
        <p:nvSpPr>
          <p:cNvPr id="13" name="Text 11"/>
          <p:cNvSpPr txBox="1"/>
          <p:nvPr/>
        </p:nvSpPr>
        <p:spPr>
          <a:xfrm>
            <a:off x="7360920" y="1892808"/>
            <a:ext cx="4297680" cy="457200"/>
          </a:xfrm>
          <a:prstGeom prst="rect">
            <a:avLst/>
          </a:prstGeom>
          <a:noFill/>
          <a:ln/>
        </p:spPr>
        <p:txBody>
          <a:bodyPr wrap="square" lIns="0" tIns="0" rIns="0" bIns="0"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Docker 28.5.2</a:t>
            </a:r>
            <a:endParaRPr lang="en-US" sz="1500" dirty="0"/>
          </a:p>
        </p:txBody>
      </p:sp>
      <p:sp>
        <p:nvSpPr>
          <p:cNvPr id="14" name="Text 12"/>
          <p:cNvSpPr txBox="1"/>
          <p:nvPr/>
        </p:nvSpPr>
        <p:spPr>
          <a:xfrm>
            <a:off x="7360920" y="2377440"/>
            <a:ext cx="4297680" cy="45720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Docker Compose 2.40.3</a:t>
            </a:r>
            <a:endParaRPr lang="en-US" sz="1200" dirty="0"/>
          </a:p>
        </p:txBody>
      </p:sp>
      <p:sp>
        <p:nvSpPr>
          <p:cNvPr id="15" name="Shape 13"/>
          <p:cNvSpPr/>
          <p:nvPr/>
        </p:nvSpPr>
        <p:spPr>
          <a:xfrm>
            <a:off x="548640" y="3383280"/>
            <a:ext cx="548640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6" name="Shape 14"/>
          <p:cNvSpPr/>
          <p:nvPr/>
        </p:nvSpPr>
        <p:spPr>
          <a:xfrm>
            <a:off x="749808" y="3762756"/>
            <a:ext cx="658368" cy="658368"/>
          </a:xfrm>
          <a:prstGeom prst="roundRect">
            <a:avLst>
              <a:gd name="adj" fmla="val 13889"/>
            </a:avLst>
          </a:prstGeom>
          <a:solidFill>
            <a:srgbClr val="E7F4EF"/>
          </a:solidFill>
          <a:ln w="12700">
            <a:solidFill>
              <a:srgbClr val="0F6E56"/>
            </a:solidFill>
            <a:prstDash val="solid"/>
          </a:ln>
        </p:spPr>
      </p:sp>
      <p:sp>
        <p:nvSpPr>
          <p:cNvPr id="17" name="Text 15"/>
          <p:cNvSpPr txBox="1"/>
          <p:nvPr/>
        </p:nvSpPr>
        <p:spPr>
          <a:xfrm>
            <a:off x="749808" y="3762756"/>
            <a:ext cx="658368" cy="658368"/>
          </a:xfrm>
          <a:prstGeom prst="rect">
            <a:avLst/>
          </a:prstGeom>
          <a:noFill/>
          <a:ln/>
        </p:spPr>
        <p:txBody>
          <a:bodyPr wrap="square" lIns="0" tIns="0" rIns="0" bIns="0" rtlCol="0" anchor="ctr"/>
          <a:lstStyle/>
          <a:p>
            <a:pPr algn="ctr" indent="0" marL="0">
              <a:buNone/>
            </a:pPr>
            <a:r>
              <a:rPr lang="en-US" sz="1200" b="1" dirty="0">
                <a:solidFill>
                  <a:srgbClr val="0B4B3B"/>
                </a:solidFill>
                <a:latin typeface="Calibri" pitchFamily="34" charset="0"/>
                <a:ea typeface="Calibri" pitchFamily="34" charset="-122"/>
                <a:cs typeface="Calibri" pitchFamily="34" charset="-120"/>
              </a:rPr>
              <a:t>VW</a:t>
            </a:r>
            <a:endParaRPr lang="en-US" sz="1200" dirty="0"/>
          </a:p>
        </p:txBody>
      </p:sp>
      <p:sp>
        <p:nvSpPr>
          <p:cNvPr id="18" name="Text 16"/>
          <p:cNvSpPr txBox="1"/>
          <p:nvPr/>
        </p:nvSpPr>
        <p:spPr>
          <a:xfrm>
            <a:off x="1554480" y="3584448"/>
            <a:ext cx="4297680" cy="457200"/>
          </a:xfrm>
          <a:prstGeom prst="rect">
            <a:avLst/>
          </a:prstGeom>
          <a:noFill/>
          <a:ln/>
        </p:spPr>
        <p:txBody>
          <a:bodyPr wrap="square" lIns="0" tIns="0" rIns="0" bIns="0"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Vaultwarden 1.37.2</a:t>
            </a:r>
            <a:endParaRPr lang="en-US" sz="1500" dirty="0"/>
          </a:p>
        </p:txBody>
      </p:sp>
      <p:sp>
        <p:nvSpPr>
          <p:cNvPr id="19" name="Text 17"/>
          <p:cNvSpPr txBox="1"/>
          <p:nvPr/>
        </p:nvSpPr>
        <p:spPr>
          <a:xfrm>
            <a:off x="1554480" y="4069080"/>
            <a:ext cx="4297680" cy="45720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Web-Vault 2026.7.0</a:t>
            </a:r>
            <a:endParaRPr lang="en-US" sz="1200" dirty="0"/>
          </a:p>
        </p:txBody>
      </p:sp>
      <p:sp>
        <p:nvSpPr>
          <p:cNvPr id="20" name="Shape 18"/>
          <p:cNvSpPr/>
          <p:nvPr/>
        </p:nvSpPr>
        <p:spPr>
          <a:xfrm>
            <a:off x="6355080" y="3383280"/>
            <a:ext cx="548640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21" name="Shape 19"/>
          <p:cNvSpPr/>
          <p:nvPr/>
        </p:nvSpPr>
        <p:spPr>
          <a:xfrm>
            <a:off x="6556248" y="3762756"/>
            <a:ext cx="658368" cy="658368"/>
          </a:xfrm>
          <a:prstGeom prst="roundRect">
            <a:avLst>
              <a:gd name="adj" fmla="val 13889"/>
            </a:avLst>
          </a:prstGeom>
          <a:solidFill>
            <a:srgbClr val="E7F4EF"/>
          </a:solidFill>
          <a:ln w="12700">
            <a:solidFill>
              <a:srgbClr val="0F6E56"/>
            </a:solidFill>
            <a:prstDash val="solid"/>
          </a:ln>
        </p:spPr>
      </p:sp>
      <p:sp>
        <p:nvSpPr>
          <p:cNvPr id="22" name="Text 20"/>
          <p:cNvSpPr txBox="1"/>
          <p:nvPr/>
        </p:nvSpPr>
        <p:spPr>
          <a:xfrm>
            <a:off x="6556248" y="3762756"/>
            <a:ext cx="658368" cy="658368"/>
          </a:xfrm>
          <a:prstGeom prst="rect">
            <a:avLst/>
          </a:prstGeom>
          <a:noFill/>
          <a:ln/>
        </p:spPr>
        <p:txBody>
          <a:bodyPr wrap="square" lIns="0" tIns="0" rIns="0" bIns="0" rtlCol="0" anchor="ctr"/>
          <a:lstStyle/>
          <a:p>
            <a:pPr algn="ctr" indent="0" marL="0">
              <a:buNone/>
            </a:pPr>
            <a:r>
              <a:rPr lang="en-US" sz="1200" b="1" dirty="0">
                <a:solidFill>
                  <a:srgbClr val="0B4B3B"/>
                </a:solidFill>
                <a:latin typeface="Calibri" pitchFamily="34" charset="0"/>
                <a:ea typeface="Calibri" pitchFamily="34" charset="-122"/>
                <a:cs typeface="Calibri" pitchFamily="34" charset="-120"/>
              </a:rPr>
              <a:t>DB</a:t>
            </a:r>
            <a:endParaRPr lang="en-US" sz="1200" dirty="0"/>
          </a:p>
        </p:txBody>
      </p:sp>
      <p:sp>
        <p:nvSpPr>
          <p:cNvPr id="23" name="Text 21"/>
          <p:cNvSpPr txBox="1"/>
          <p:nvPr/>
        </p:nvSpPr>
        <p:spPr>
          <a:xfrm>
            <a:off x="7360920" y="3584448"/>
            <a:ext cx="4297680" cy="457200"/>
          </a:xfrm>
          <a:prstGeom prst="rect">
            <a:avLst/>
          </a:prstGeom>
          <a:noFill/>
          <a:ln/>
        </p:spPr>
        <p:txBody>
          <a:bodyPr wrap="square" lIns="0" tIns="0" rIns="0" bIns="0"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SQLite 3.46.1</a:t>
            </a:r>
            <a:endParaRPr lang="en-US" sz="1500" dirty="0"/>
          </a:p>
        </p:txBody>
      </p:sp>
      <p:sp>
        <p:nvSpPr>
          <p:cNvPr id="24" name="Text 22"/>
          <p:cNvSpPr txBox="1"/>
          <p:nvPr/>
        </p:nvSpPr>
        <p:spPr>
          <a:xfrm>
            <a:off x="7360920" y="4069080"/>
            <a:ext cx="4297680" cy="45720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file-based, bind-mounted</a:t>
            </a:r>
            <a:endParaRPr lang="en-US" sz="1200" dirty="0"/>
          </a:p>
        </p:txBody>
      </p:sp>
      <p:sp>
        <p:nvSpPr>
          <p:cNvPr id="25" name="Shape 23"/>
          <p:cNvSpPr/>
          <p:nvPr/>
        </p:nvSpPr>
        <p:spPr>
          <a:xfrm>
            <a:off x="548640" y="5074920"/>
            <a:ext cx="548640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26" name="Shape 24"/>
          <p:cNvSpPr/>
          <p:nvPr/>
        </p:nvSpPr>
        <p:spPr>
          <a:xfrm>
            <a:off x="749808" y="5454396"/>
            <a:ext cx="658368" cy="658368"/>
          </a:xfrm>
          <a:prstGeom prst="roundRect">
            <a:avLst>
              <a:gd name="adj" fmla="val 13889"/>
            </a:avLst>
          </a:prstGeom>
          <a:solidFill>
            <a:srgbClr val="E7F4EF"/>
          </a:solidFill>
          <a:ln w="12700">
            <a:solidFill>
              <a:srgbClr val="0F6E56"/>
            </a:solidFill>
            <a:prstDash val="solid"/>
          </a:ln>
        </p:spPr>
      </p:sp>
      <p:sp>
        <p:nvSpPr>
          <p:cNvPr id="27" name="Text 25"/>
          <p:cNvSpPr txBox="1"/>
          <p:nvPr/>
        </p:nvSpPr>
        <p:spPr>
          <a:xfrm>
            <a:off x="749808" y="5454396"/>
            <a:ext cx="658368" cy="658368"/>
          </a:xfrm>
          <a:prstGeom prst="rect">
            <a:avLst/>
          </a:prstGeom>
          <a:noFill/>
          <a:ln/>
        </p:spPr>
        <p:txBody>
          <a:bodyPr wrap="square" lIns="0" tIns="0" rIns="0" bIns="0" rtlCol="0" anchor="ctr"/>
          <a:lstStyle/>
          <a:p>
            <a:pPr algn="ctr" indent="0" marL="0">
              <a:buNone/>
            </a:pPr>
            <a:r>
              <a:rPr lang="en-US" sz="1200" b="1" dirty="0">
                <a:solidFill>
                  <a:srgbClr val="0B4B3B"/>
                </a:solidFill>
                <a:latin typeface="Calibri" pitchFamily="34" charset="0"/>
                <a:ea typeface="Calibri" pitchFamily="34" charset="-122"/>
                <a:cs typeface="Calibri" pitchFamily="34" charset="-120"/>
              </a:rPr>
              <a:t>TLS</a:t>
            </a:r>
            <a:endParaRPr lang="en-US" sz="1200" dirty="0"/>
          </a:p>
        </p:txBody>
      </p:sp>
      <p:sp>
        <p:nvSpPr>
          <p:cNvPr id="28" name="Text 26"/>
          <p:cNvSpPr txBox="1"/>
          <p:nvPr/>
        </p:nvSpPr>
        <p:spPr>
          <a:xfrm>
            <a:off x="1554480" y="5276088"/>
            <a:ext cx="4297680" cy="457200"/>
          </a:xfrm>
          <a:prstGeom prst="rect">
            <a:avLst/>
          </a:prstGeom>
          <a:noFill/>
          <a:ln/>
        </p:spPr>
        <p:txBody>
          <a:bodyPr wrap="square" lIns="0" tIns="0" rIns="0" bIns="0"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Rocket built-in TLS</a:t>
            </a:r>
            <a:endParaRPr lang="en-US" sz="1500" dirty="0"/>
          </a:p>
        </p:txBody>
      </p:sp>
      <p:sp>
        <p:nvSpPr>
          <p:cNvPr id="29" name="Text 27"/>
          <p:cNvSpPr txBox="1"/>
          <p:nvPr/>
        </p:nvSpPr>
        <p:spPr>
          <a:xfrm>
            <a:off x="1554480" y="5760720"/>
            <a:ext cx="4297680" cy="45720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self-signed certificate</a:t>
            </a:r>
            <a:endParaRPr lang="en-US" sz="1200" dirty="0"/>
          </a:p>
        </p:txBody>
      </p:sp>
      <p:sp>
        <p:nvSpPr>
          <p:cNvPr id="30" name="Shape 28"/>
          <p:cNvSpPr/>
          <p:nvPr/>
        </p:nvSpPr>
        <p:spPr>
          <a:xfrm>
            <a:off x="6355080" y="5074920"/>
            <a:ext cx="548640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31" name="Shape 29"/>
          <p:cNvSpPr/>
          <p:nvPr/>
        </p:nvSpPr>
        <p:spPr>
          <a:xfrm>
            <a:off x="6556248" y="5454396"/>
            <a:ext cx="658368" cy="658368"/>
          </a:xfrm>
          <a:prstGeom prst="roundRect">
            <a:avLst>
              <a:gd name="adj" fmla="val 13889"/>
            </a:avLst>
          </a:prstGeom>
          <a:solidFill>
            <a:srgbClr val="E7F4EF"/>
          </a:solidFill>
          <a:ln w="12700">
            <a:solidFill>
              <a:srgbClr val="0F6E56"/>
            </a:solidFill>
            <a:prstDash val="solid"/>
          </a:ln>
        </p:spPr>
      </p:sp>
      <p:sp>
        <p:nvSpPr>
          <p:cNvPr id="32" name="Text 30"/>
          <p:cNvSpPr txBox="1"/>
          <p:nvPr/>
        </p:nvSpPr>
        <p:spPr>
          <a:xfrm>
            <a:off x="6556248" y="5454396"/>
            <a:ext cx="658368" cy="658368"/>
          </a:xfrm>
          <a:prstGeom prst="rect">
            <a:avLst/>
          </a:prstGeom>
          <a:noFill/>
          <a:ln/>
        </p:spPr>
        <p:txBody>
          <a:bodyPr wrap="square" lIns="0" tIns="0" rIns="0" bIns="0" rtlCol="0" anchor="ctr"/>
          <a:lstStyle/>
          <a:p>
            <a:pPr algn="ctr" indent="0" marL="0">
              <a:buNone/>
            </a:pPr>
            <a:r>
              <a:rPr lang="en-US" sz="1200" b="1" dirty="0">
                <a:solidFill>
                  <a:srgbClr val="0B4B3B"/>
                </a:solidFill>
                <a:latin typeface="Calibri" pitchFamily="34" charset="0"/>
                <a:ea typeface="Calibri" pitchFamily="34" charset="-122"/>
                <a:cs typeface="Calibri" pitchFamily="34" charset="-120"/>
              </a:rPr>
              <a:t>ENC</a:t>
            </a:r>
            <a:endParaRPr lang="en-US" sz="1200" dirty="0"/>
          </a:p>
        </p:txBody>
      </p:sp>
      <p:sp>
        <p:nvSpPr>
          <p:cNvPr id="33" name="Text 31"/>
          <p:cNvSpPr txBox="1"/>
          <p:nvPr/>
        </p:nvSpPr>
        <p:spPr>
          <a:xfrm>
            <a:off x="7360920" y="5276088"/>
            <a:ext cx="4297680" cy="457200"/>
          </a:xfrm>
          <a:prstGeom prst="rect">
            <a:avLst/>
          </a:prstGeom>
          <a:noFill/>
          <a:ln/>
        </p:spPr>
        <p:txBody>
          <a:bodyPr wrap="square" lIns="0" tIns="0" rIns="0" bIns="0"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OpenSSL 3.6.3</a:t>
            </a:r>
            <a:endParaRPr lang="en-US" sz="1500" dirty="0"/>
          </a:p>
        </p:txBody>
      </p:sp>
      <p:sp>
        <p:nvSpPr>
          <p:cNvPr id="34" name="Text 32"/>
          <p:cNvSpPr txBox="1"/>
          <p:nvPr/>
        </p:nvSpPr>
        <p:spPr>
          <a:xfrm>
            <a:off x="7360920" y="5760720"/>
            <a:ext cx="4297680" cy="45720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AES-256-CBC, PBKDF2 200k iter</a:t>
            </a:r>
            <a:endParaRPr lang="en-US" sz="1200" dirty="0"/>
          </a:p>
        </p:txBody>
      </p:sp>
      <p:sp>
        <p:nvSpPr>
          <p:cNvPr id="35" name="Text 3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36" name="Text 34"/>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SECURITY ARCHITECTURE</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One container, TLS-terminated, with layered controls</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pic>
        <p:nvPicPr>
          <p:cNvPr id="5" name="Image 0" descr="/home/claude/project/diagrams/01_architecture.png">    </p:cNvPr>
          <p:cNvPicPr>
            <a:picLocks noChangeAspect="1"/>
          </p:cNvPicPr>
          <p:nvPr/>
        </p:nvPicPr>
        <p:blipFill>
          <a:blip r:embed="rId1"/>
          <a:stretch>
            <a:fillRect/>
          </a:stretch>
        </p:blipFill>
        <p:spPr>
          <a:xfrm>
            <a:off x="798897" y="1554480"/>
            <a:ext cx="7363326" cy="4663440"/>
          </a:xfrm>
          <a:prstGeom prst="rect">
            <a:avLst/>
          </a:prstGeom>
        </p:spPr>
      </p:pic>
      <p:sp>
        <p:nvSpPr>
          <p:cNvPr id="6" name="Shape 3"/>
          <p:cNvSpPr/>
          <p:nvPr/>
        </p:nvSpPr>
        <p:spPr>
          <a:xfrm>
            <a:off x="8595360" y="1554480"/>
            <a:ext cx="3063240" cy="4663440"/>
          </a:xfrm>
          <a:prstGeom prst="roundRect">
            <a:avLst>
              <a:gd name="adj" fmla="val 2090"/>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7" name="Text 4"/>
          <p:cNvSpPr txBox="1"/>
          <p:nvPr/>
        </p:nvSpPr>
        <p:spPr>
          <a:xfrm>
            <a:off x="8796528" y="1719072"/>
            <a:ext cx="266090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Key facts</a:t>
            </a:r>
            <a:endParaRPr lang="en-US" sz="1400" dirty="0"/>
          </a:p>
        </p:txBody>
      </p:sp>
      <p:sp>
        <p:nvSpPr>
          <p:cNvPr id="8" name="Text 5"/>
          <p:cNvSpPr txBox="1"/>
          <p:nvPr/>
        </p:nvSpPr>
        <p:spPr>
          <a:xfrm>
            <a:off x="8796528" y="2103120"/>
            <a:ext cx="2660904" cy="39776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Single Docker container: vaultwarden/server:latest 1.37.2</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Rocket terminates TLS directly — no reverse proxy</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vw-data bind-mounted read-write; TLS cert mounted read-only</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Server never sees plaintext vault data or the master password</a:t>
            </a:r>
            <a:endParaRPr lang="en-US" sz="1250" dirty="0"/>
          </a:p>
        </p:txBody>
      </p:sp>
      <p:sp>
        <p:nvSpPr>
          <p:cNvPr id="9" name="Text 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0" name="Text 7"/>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ENCRYPTION &amp; KEY MANAGEMENT</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Field-level AES-256, verified directly in the database</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pic>
        <p:nvPicPr>
          <p:cNvPr id="5" name="Image 0" descr="/home/claude/project/diagrams/02_encryption.png">    </p:cNvPr>
          <p:cNvPicPr>
            <a:picLocks noChangeAspect="1"/>
          </p:cNvPicPr>
          <p:nvPr/>
        </p:nvPicPr>
        <p:blipFill>
          <a:blip r:embed="rId1"/>
          <a:stretch>
            <a:fillRect/>
          </a:stretch>
        </p:blipFill>
        <p:spPr>
          <a:xfrm>
            <a:off x="548640" y="1626108"/>
            <a:ext cx="7863840" cy="4062984"/>
          </a:xfrm>
          <a:prstGeom prst="rect">
            <a:avLst/>
          </a:prstGeom>
        </p:spPr>
      </p:pic>
      <p:sp>
        <p:nvSpPr>
          <p:cNvPr id="6" name="Shape 3"/>
          <p:cNvSpPr/>
          <p:nvPr/>
        </p:nvSpPr>
        <p:spPr>
          <a:xfrm>
            <a:off x="8595360" y="1554480"/>
            <a:ext cx="3063240" cy="4206240"/>
          </a:xfrm>
          <a:prstGeom prst="roundRect">
            <a:avLst>
              <a:gd name="adj" fmla="val 2090"/>
            </a:avLst>
          </a:prstGeom>
          <a:solidFill>
            <a:srgbClr val="E7F4EF"/>
          </a:solidFill>
          <a:ln w="12700">
            <a:solidFill>
              <a:srgbClr val="0F6E56"/>
            </a:solidFill>
            <a:prstDash val="solid"/>
          </a:ln>
          <a:effectLst>
            <a:outerShdw sx="100000" sy="100000" kx="0" ky="0" algn="bl" rotWithShape="0" blurRad="76200" dist="25400" dir="5400000">
              <a:srgbClr val="1B2A4A">
                <a:alpha val="10000"/>
              </a:srgbClr>
            </a:outerShdw>
          </a:effectLst>
        </p:spPr>
      </p:sp>
      <p:sp>
        <p:nvSpPr>
          <p:cNvPr id="7" name="Text 4"/>
          <p:cNvSpPr txBox="1"/>
          <p:nvPr/>
        </p:nvSpPr>
        <p:spPr>
          <a:xfrm>
            <a:off x="8796528" y="1719072"/>
            <a:ext cx="2660904" cy="329184"/>
          </a:xfrm>
          <a:prstGeom prst="rect">
            <a:avLst/>
          </a:prstGeom>
          <a:noFill/>
          <a:ln/>
        </p:spPr>
        <p:txBody>
          <a:bodyPr wrap="square" lIns="0" tIns="0" rIns="0" bIns="0" rtlCol="0" anchor="ctr"/>
          <a:lstStyle/>
          <a:p>
            <a:pPr indent="0" marL="0">
              <a:buNone/>
            </a:pPr>
            <a:r>
              <a:rPr lang="en-US" sz="1400" b="1" dirty="0">
                <a:solidFill>
                  <a:srgbClr val="0B4B3B"/>
                </a:solidFill>
                <a:latin typeface="Calibri" pitchFamily="34" charset="0"/>
                <a:ea typeface="Calibri" pitchFamily="34" charset="-122"/>
                <a:cs typeface="Calibri" pitchFamily="34" charset="-120"/>
              </a:rPr>
              <a:t>Verified</a:t>
            </a:r>
            <a:endParaRPr lang="en-US" sz="1400" dirty="0"/>
          </a:p>
        </p:txBody>
      </p:sp>
      <p:sp>
        <p:nvSpPr>
          <p:cNvPr id="8" name="Text 5"/>
          <p:cNvSpPr txBox="1"/>
          <p:nvPr/>
        </p:nvSpPr>
        <p:spPr>
          <a:xfrm>
            <a:off x="8796528" y="2103120"/>
            <a:ext cx="2660904" cy="35204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Argon2id — 32MB memory, 6 iterations, parallelism 4</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CipherString "2." prefix confirmed on name, data, username, URI</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AES-256-CBC + HMAC-SHA256 per Bitwarden spec</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TLS protects transport only — a separate layer</a:t>
            </a:r>
            <a:endParaRPr lang="en-US" sz="1250" dirty="0"/>
          </a:p>
        </p:txBody>
      </p:sp>
      <p:sp>
        <p:nvSpPr>
          <p:cNvPr id="9" name="Text 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0" name="Text 7"/>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AUTHENTICATION &amp; MFA</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Two independently-enforced factors, both failure paths captured</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pic>
        <p:nvPicPr>
          <p:cNvPr id="5" name="Image 0" descr="/home/claude/project/diagrams/03_auth_mfa.png">    </p:cNvPr>
          <p:cNvPicPr>
            <a:picLocks noChangeAspect="1"/>
          </p:cNvPicPr>
          <p:nvPr/>
        </p:nvPicPr>
        <p:blipFill>
          <a:blip r:embed="rId1"/>
          <a:stretch>
            <a:fillRect/>
          </a:stretch>
        </p:blipFill>
        <p:spPr>
          <a:xfrm>
            <a:off x="548640" y="1796225"/>
            <a:ext cx="11109960" cy="2808351"/>
          </a:xfrm>
          <a:prstGeom prst="rect">
            <a:avLst/>
          </a:prstGeom>
        </p:spPr>
      </p:pic>
      <p:sp>
        <p:nvSpPr>
          <p:cNvPr id="6" name="Shape 3"/>
          <p:cNvSpPr/>
          <p:nvPr/>
        </p:nvSpPr>
        <p:spPr>
          <a:xfrm>
            <a:off x="548640" y="4846320"/>
            <a:ext cx="5394960" cy="1463040"/>
          </a:xfrm>
          <a:prstGeom prst="roundRect">
            <a:avLst>
              <a:gd name="adj" fmla="val 4375"/>
            </a:avLst>
          </a:prstGeom>
          <a:solidFill>
            <a:srgbClr val="FCEEEA"/>
          </a:solidFill>
          <a:ln w="12700">
            <a:solidFill>
              <a:srgbClr val="B8461F"/>
            </a:solidFill>
            <a:prstDash val="solid"/>
          </a:ln>
          <a:effectLst>
            <a:outerShdw sx="100000" sy="100000" kx="0" ky="0" algn="bl" rotWithShape="0" blurRad="76200" dist="25400" dir="5400000">
              <a:srgbClr val="1B2A4A">
                <a:alpha val="10000"/>
              </a:srgbClr>
            </a:outerShdw>
          </a:effectLst>
        </p:spPr>
      </p:sp>
      <p:sp>
        <p:nvSpPr>
          <p:cNvPr id="7" name="Text 4"/>
          <p:cNvSpPr txBox="1"/>
          <p:nvPr/>
        </p:nvSpPr>
        <p:spPr>
          <a:xfrm>
            <a:off x="749808" y="5010912"/>
            <a:ext cx="4992624" cy="329184"/>
          </a:xfrm>
          <a:prstGeom prst="rect">
            <a:avLst/>
          </a:prstGeom>
          <a:noFill/>
          <a:ln/>
        </p:spPr>
        <p:txBody>
          <a:bodyPr wrap="square" lIns="0" tIns="0" rIns="0" bIns="0" rtlCol="0" anchor="ctr"/>
          <a:lstStyle/>
          <a:p>
            <a:pPr indent="0" marL="0">
              <a:buNone/>
            </a:pPr>
            <a:r>
              <a:rPr lang="en-US" sz="1400" b="1" dirty="0">
                <a:solidFill>
                  <a:srgbClr val="7A2E13"/>
                </a:solidFill>
                <a:latin typeface="Calibri" pitchFamily="34" charset="0"/>
                <a:ea typeface="Calibri" pitchFamily="34" charset="-122"/>
                <a:cs typeface="Calibri" pitchFamily="34" charset="-120"/>
              </a:rPr>
              <a:t>Verified failure paths</a:t>
            </a:r>
            <a:endParaRPr lang="en-US" sz="1400" dirty="0"/>
          </a:p>
        </p:txBody>
      </p:sp>
      <p:sp>
        <p:nvSpPr>
          <p:cNvPr id="8" name="Text 5"/>
          <p:cNvSpPr txBox="1"/>
          <p:nvPr/>
        </p:nvSpPr>
        <p:spPr>
          <a:xfrm>
            <a:off x="749808" y="5394960"/>
            <a:ext cx="4992624" cy="7772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Invalid master password → logged with source IP, 400 Bad Request</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"2FA token not provided" → the genuine MFA-failure evidence</a:t>
            </a:r>
            <a:endParaRPr lang="en-US" sz="1250" dirty="0"/>
          </a:p>
        </p:txBody>
      </p:sp>
      <p:sp>
        <p:nvSpPr>
          <p:cNvPr id="9" name="Shape 6"/>
          <p:cNvSpPr/>
          <p:nvPr/>
        </p:nvSpPr>
        <p:spPr>
          <a:xfrm>
            <a:off x="6217920" y="4846320"/>
            <a:ext cx="5440680" cy="1463040"/>
          </a:xfrm>
          <a:prstGeom prst="roundRect">
            <a:avLst>
              <a:gd name="adj" fmla="val 4375"/>
            </a:avLst>
          </a:prstGeom>
          <a:solidFill>
            <a:srgbClr val="FFF6E5"/>
          </a:solidFill>
          <a:ln w="12700">
            <a:solidFill>
              <a:srgbClr val="B8790C"/>
            </a:solidFill>
            <a:prstDash val="solid"/>
          </a:ln>
          <a:effectLst>
            <a:outerShdw sx="100000" sy="100000" kx="0" ky="0" algn="bl" rotWithShape="0" blurRad="76200" dist="25400" dir="5400000">
              <a:srgbClr val="1B2A4A">
                <a:alpha val="10000"/>
              </a:srgbClr>
            </a:outerShdw>
          </a:effectLst>
        </p:spPr>
      </p:sp>
      <p:sp>
        <p:nvSpPr>
          <p:cNvPr id="10" name="Text 7"/>
          <p:cNvSpPr txBox="1"/>
          <p:nvPr/>
        </p:nvSpPr>
        <p:spPr>
          <a:xfrm>
            <a:off x="6419088" y="5010912"/>
            <a:ext cx="5038344" cy="329184"/>
          </a:xfrm>
          <a:prstGeom prst="rect">
            <a:avLst/>
          </a:prstGeom>
          <a:noFill/>
          <a:ln/>
        </p:spPr>
        <p:txBody>
          <a:bodyPr wrap="square" lIns="0" tIns="0" rIns="0" bIns="0" rtlCol="0" anchor="ctr"/>
          <a:lstStyle/>
          <a:p>
            <a:pPr indent="0" marL="0">
              <a:buNone/>
            </a:pPr>
            <a:r>
              <a:rPr lang="en-US" sz="1400" b="1" dirty="0">
                <a:solidFill>
                  <a:srgbClr val="7A4E08"/>
                </a:solidFill>
                <a:latin typeface="Calibri" pitchFamily="34" charset="0"/>
                <a:ea typeface="Calibri" pitchFamily="34" charset="-122"/>
                <a:cs typeface="Calibri" pitchFamily="34" charset="-120"/>
              </a:rPr>
              <a:t>Evidence correction</a:t>
            </a:r>
            <a:endParaRPr lang="en-US" sz="1400" dirty="0"/>
          </a:p>
        </p:txBody>
      </p:sp>
      <p:sp>
        <p:nvSpPr>
          <p:cNvPr id="11" name="Text 8"/>
          <p:cNvSpPr txBox="1"/>
          <p:nvPr/>
        </p:nvSpPr>
        <p:spPr>
          <a:xfrm>
            <a:off x="6419088" y="5394960"/>
            <a:ext cx="5038344" cy="7772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One screenshot was misnamed "MFA_Failed_Login_Test" but actually showed a password error — corrected in the full report.</a:t>
            </a:r>
            <a:endParaRPr lang="en-US" sz="1250" dirty="0"/>
          </a:p>
        </p:txBody>
      </p:sp>
      <p:sp>
        <p:nvSpPr>
          <p:cNvPr id="12" name="Text 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3" name="Text 10"/>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RBAC &amp; ACCESS CONTROL</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Restriction demonstrated with a second account, not just labeled</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pic>
        <p:nvPicPr>
          <p:cNvPr id="5" name="Image 0" descr="/home/claude/project/diagrams/04_rbac.png">    </p:cNvPr>
          <p:cNvPicPr>
            <a:picLocks noChangeAspect="1"/>
          </p:cNvPicPr>
          <p:nvPr/>
        </p:nvPicPr>
        <p:blipFill>
          <a:blip r:embed="rId1"/>
          <a:stretch>
            <a:fillRect/>
          </a:stretch>
        </p:blipFill>
        <p:spPr>
          <a:xfrm>
            <a:off x="548640" y="2051304"/>
            <a:ext cx="7863840" cy="3669792"/>
          </a:xfrm>
          <a:prstGeom prst="rect">
            <a:avLst/>
          </a:prstGeom>
        </p:spPr>
      </p:pic>
      <p:sp>
        <p:nvSpPr>
          <p:cNvPr id="6" name="Shape 3"/>
          <p:cNvSpPr/>
          <p:nvPr/>
        </p:nvSpPr>
        <p:spPr>
          <a:xfrm>
            <a:off x="8595360" y="1554480"/>
            <a:ext cx="3063240" cy="4663440"/>
          </a:xfrm>
          <a:prstGeom prst="roundRect">
            <a:avLst>
              <a:gd name="adj" fmla="val 2090"/>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7" name="Text 4"/>
          <p:cNvSpPr txBox="1"/>
          <p:nvPr/>
        </p:nvSpPr>
        <p:spPr>
          <a:xfrm>
            <a:off x="8796528" y="1719072"/>
            <a:ext cx="266090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Demonstrated</a:t>
            </a:r>
            <a:endParaRPr lang="en-US" sz="1400" dirty="0"/>
          </a:p>
        </p:txBody>
      </p:sp>
      <p:sp>
        <p:nvSpPr>
          <p:cNvPr id="8" name="Text 5"/>
          <p:cNvSpPr txBox="1"/>
          <p:nvPr/>
        </p:nvSpPr>
        <p:spPr>
          <a:xfrm>
            <a:off x="8796528" y="2103120"/>
            <a:ext cx="2660904" cy="39776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Owner: full Admin Console, Members, Collections, Reports access</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Invited "User" role: Default collection only</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No Admin Console entry visible in the member’s navigation</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Sharing confirmed via API log: PUT /api/ciphers/{id}/share → 200 OK</a:t>
            </a:r>
            <a:endParaRPr lang="en-US" sz="1250" dirty="0"/>
          </a:p>
        </p:txBody>
      </p:sp>
      <p:sp>
        <p:nvSpPr>
          <p:cNvPr id="9" name="Text 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0" name="Text 7"/>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BACKUP &amp; DISASTER RECOVERY</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Encrypted, restored, and hash-verified — both backup types</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pic>
        <p:nvPicPr>
          <p:cNvPr id="5" name="Image 0" descr="/home/claude/project/diagrams/05_backup.png">    </p:cNvPr>
          <p:cNvPicPr>
            <a:picLocks noChangeAspect="1"/>
          </p:cNvPicPr>
          <p:nvPr/>
        </p:nvPicPr>
        <p:blipFill>
          <a:blip r:embed="rId1"/>
          <a:stretch>
            <a:fillRect/>
          </a:stretch>
        </p:blipFill>
        <p:spPr>
          <a:xfrm>
            <a:off x="548640" y="1659065"/>
            <a:ext cx="11109960" cy="2808351"/>
          </a:xfrm>
          <a:prstGeom prst="rect">
            <a:avLst/>
          </a:prstGeom>
        </p:spPr>
      </p:pic>
      <p:sp>
        <p:nvSpPr>
          <p:cNvPr id="6" name="Shape 3"/>
          <p:cNvSpPr/>
          <p:nvPr/>
        </p:nvSpPr>
        <p:spPr>
          <a:xfrm>
            <a:off x="548640" y="4709160"/>
            <a:ext cx="2651760" cy="1508760"/>
          </a:xfrm>
          <a:prstGeom prst="roundRect">
            <a:avLst>
              <a:gd name="adj" fmla="val 4848"/>
            </a:avLst>
          </a:prstGeom>
          <a:solidFill>
            <a:srgbClr val="FFFFFF"/>
          </a:solidFill>
          <a:ln w="12700">
            <a:solidFill>
              <a:srgbClr val="D8DEE7"/>
            </a:solidFill>
            <a:prstDash val="solid"/>
          </a:ln>
          <a:effectLst>
            <a:outerShdw sx="100000" sy="100000" kx="0" ky="0" algn="bl" rotWithShape="0" blurRad="76200" dist="25400" dir="5400000">
              <a:srgbClr val="1B2A4A">
                <a:alpha val="12000"/>
              </a:srgbClr>
            </a:outerShdw>
          </a:effectLst>
        </p:spPr>
      </p:sp>
      <p:sp>
        <p:nvSpPr>
          <p:cNvPr id="7" name="Text 4"/>
          <p:cNvSpPr txBox="1"/>
          <p:nvPr/>
        </p:nvSpPr>
        <p:spPr>
          <a:xfrm>
            <a:off x="548640" y="4818888"/>
            <a:ext cx="2651760" cy="829818"/>
          </a:xfrm>
          <a:prstGeom prst="rect">
            <a:avLst/>
          </a:prstGeom>
          <a:noFill/>
          <a:ln/>
        </p:spPr>
        <p:txBody>
          <a:bodyPr wrap="square" lIns="0" tIns="0" rIns="0" bIns="0" rtlCol="0" anchor="b"/>
          <a:lstStyle/>
          <a:p>
            <a:pPr algn="ctr" indent="0" marL="0">
              <a:buNone/>
            </a:pPr>
            <a:r>
              <a:rPr lang="en-US" sz="2200" b="1" dirty="0">
                <a:solidFill>
                  <a:srgbClr val="0F6E56"/>
                </a:solidFill>
                <a:latin typeface="Cambria" pitchFamily="34" charset="0"/>
                <a:ea typeface="Cambria" pitchFamily="34" charset="-122"/>
                <a:cs typeface="Cambria" pitchFamily="34" charset="-120"/>
              </a:rPr>
              <a:t>AES-256-CBC</a:t>
            </a:r>
            <a:endParaRPr lang="en-US" sz="2200" dirty="0"/>
          </a:p>
        </p:txBody>
      </p:sp>
      <p:sp>
        <p:nvSpPr>
          <p:cNvPr id="8" name="Text 5"/>
          <p:cNvSpPr txBox="1"/>
          <p:nvPr/>
        </p:nvSpPr>
        <p:spPr>
          <a:xfrm>
            <a:off x="685800" y="5584241"/>
            <a:ext cx="2377440" cy="573329"/>
          </a:xfrm>
          <a:prstGeom prst="rect">
            <a:avLst/>
          </a:prstGeom>
          <a:noFill/>
          <a:ln/>
        </p:spPr>
        <p:txBody>
          <a:bodyPr wrap="square" lIns="0" tIns="0" rIns="0" bIns="0" rtlCol="0" anchor="t"/>
          <a:lstStyle/>
          <a:p>
            <a:pPr algn="ctr" indent="0" marL="0">
              <a:buNone/>
            </a:pPr>
            <a:r>
              <a:rPr lang="en-US" sz="1150" dirty="0">
                <a:solidFill>
                  <a:srgbClr val="5B6B82"/>
                </a:solidFill>
                <a:latin typeface="Calibri" pitchFamily="34" charset="0"/>
                <a:ea typeface="Calibri" pitchFamily="34" charset="-122"/>
                <a:cs typeface="Calibri" pitchFamily="34" charset="-120"/>
              </a:rPr>
              <a:t>Backup encryption</a:t>
            </a:r>
            <a:endParaRPr lang="en-US" sz="1150" dirty="0"/>
          </a:p>
        </p:txBody>
      </p:sp>
      <p:sp>
        <p:nvSpPr>
          <p:cNvPr id="9" name="Shape 6"/>
          <p:cNvSpPr/>
          <p:nvPr/>
        </p:nvSpPr>
        <p:spPr>
          <a:xfrm>
            <a:off x="3337560" y="4709160"/>
            <a:ext cx="2651760" cy="1508760"/>
          </a:xfrm>
          <a:prstGeom prst="roundRect">
            <a:avLst>
              <a:gd name="adj" fmla="val 4848"/>
            </a:avLst>
          </a:prstGeom>
          <a:solidFill>
            <a:srgbClr val="FFFFFF"/>
          </a:solidFill>
          <a:ln w="12700">
            <a:solidFill>
              <a:srgbClr val="D8DEE7"/>
            </a:solidFill>
            <a:prstDash val="solid"/>
          </a:ln>
          <a:effectLst>
            <a:outerShdw sx="100000" sy="100000" kx="0" ky="0" algn="bl" rotWithShape="0" blurRad="76200" dist="25400" dir="5400000">
              <a:srgbClr val="1B2A4A">
                <a:alpha val="12000"/>
              </a:srgbClr>
            </a:outerShdw>
          </a:effectLst>
        </p:spPr>
      </p:sp>
      <p:sp>
        <p:nvSpPr>
          <p:cNvPr id="10" name="Text 7"/>
          <p:cNvSpPr txBox="1"/>
          <p:nvPr/>
        </p:nvSpPr>
        <p:spPr>
          <a:xfrm>
            <a:off x="3337560" y="4818888"/>
            <a:ext cx="2651760" cy="829818"/>
          </a:xfrm>
          <a:prstGeom prst="rect">
            <a:avLst/>
          </a:prstGeom>
          <a:noFill/>
          <a:ln/>
        </p:spPr>
        <p:txBody>
          <a:bodyPr wrap="square" lIns="0" tIns="0" rIns="0" bIns="0" rtlCol="0" anchor="b"/>
          <a:lstStyle/>
          <a:p>
            <a:pPr algn="ctr" indent="0" marL="0">
              <a:buNone/>
            </a:pPr>
            <a:r>
              <a:rPr lang="en-US" sz="2200" b="1" dirty="0">
                <a:solidFill>
                  <a:srgbClr val="0F6E56"/>
                </a:solidFill>
                <a:latin typeface="Cambria" pitchFamily="34" charset="0"/>
                <a:ea typeface="Cambria" pitchFamily="34" charset="-122"/>
                <a:cs typeface="Cambria" pitchFamily="34" charset="-120"/>
              </a:rPr>
              <a:t>200,000</a:t>
            </a:r>
            <a:endParaRPr lang="en-US" sz="2200" dirty="0"/>
          </a:p>
        </p:txBody>
      </p:sp>
      <p:sp>
        <p:nvSpPr>
          <p:cNvPr id="11" name="Text 8"/>
          <p:cNvSpPr txBox="1"/>
          <p:nvPr/>
        </p:nvSpPr>
        <p:spPr>
          <a:xfrm>
            <a:off x="3474720" y="5584241"/>
            <a:ext cx="2377440" cy="573329"/>
          </a:xfrm>
          <a:prstGeom prst="rect">
            <a:avLst/>
          </a:prstGeom>
          <a:noFill/>
          <a:ln/>
        </p:spPr>
        <p:txBody>
          <a:bodyPr wrap="square" lIns="0" tIns="0" rIns="0" bIns="0" rtlCol="0" anchor="t"/>
          <a:lstStyle/>
          <a:p>
            <a:pPr algn="ctr" indent="0" marL="0">
              <a:buNone/>
            </a:pPr>
            <a:r>
              <a:rPr lang="en-US" sz="1150" dirty="0">
                <a:solidFill>
                  <a:srgbClr val="5B6B82"/>
                </a:solidFill>
                <a:latin typeface="Calibri" pitchFamily="34" charset="0"/>
                <a:ea typeface="Calibri" pitchFamily="34" charset="-122"/>
                <a:cs typeface="Calibri" pitchFamily="34" charset="-120"/>
              </a:rPr>
              <a:t>PBKDF2 iterations</a:t>
            </a:r>
            <a:endParaRPr lang="en-US" sz="1150" dirty="0"/>
          </a:p>
        </p:txBody>
      </p:sp>
      <p:sp>
        <p:nvSpPr>
          <p:cNvPr id="12" name="Shape 9"/>
          <p:cNvSpPr/>
          <p:nvPr/>
        </p:nvSpPr>
        <p:spPr>
          <a:xfrm>
            <a:off x="6126480" y="4709160"/>
            <a:ext cx="2651760" cy="1508760"/>
          </a:xfrm>
          <a:prstGeom prst="roundRect">
            <a:avLst>
              <a:gd name="adj" fmla="val 4848"/>
            </a:avLst>
          </a:prstGeom>
          <a:solidFill>
            <a:srgbClr val="FFFFFF"/>
          </a:solidFill>
          <a:ln w="12700">
            <a:solidFill>
              <a:srgbClr val="D8DEE7"/>
            </a:solidFill>
            <a:prstDash val="solid"/>
          </a:ln>
          <a:effectLst>
            <a:outerShdw sx="100000" sy="100000" kx="0" ky="0" algn="bl" rotWithShape="0" blurRad="76200" dist="25400" dir="5400000">
              <a:srgbClr val="1B2A4A">
                <a:alpha val="12000"/>
              </a:srgbClr>
            </a:outerShdw>
          </a:effectLst>
        </p:spPr>
      </p:sp>
      <p:sp>
        <p:nvSpPr>
          <p:cNvPr id="13" name="Text 10"/>
          <p:cNvSpPr txBox="1"/>
          <p:nvPr/>
        </p:nvSpPr>
        <p:spPr>
          <a:xfrm>
            <a:off x="6126480" y="4818888"/>
            <a:ext cx="2651760" cy="829818"/>
          </a:xfrm>
          <a:prstGeom prst="rect">
            <a:avLst/>
          </a:prstGeom>
          <a:noFill/>
          <a:ln/>
        </p:spPr>
        <p:txBody>
          <a:bodyPr wrap="square" lIns="0" tIns="0" rIns="0" bIns="0" rtlCol="0" anchor="b"/>
          <a:lstStyle/>
          <a:p>
            <a:pPr algn="ctr" indent="0" marL="0">
              <a:buNone/>
            </a:pPr>
            <a:r>
              <a:rPr lang="en-US" sz="2200" b="1" dirty="0">
                <a:solidFill>
                  <a:srgbClr val="0F6E56"/>
                </a:solidFill>
                <a:latin typeface="Cambria" pitchFamily="34" charset="0"/>
                <a:ea typeface="Cambria" pitchFamily="34" charset="-122"/>
                <a:cs typeface="Cambria" pitchFamily="34" charset="-120"/>
              </a:rPr>
              <a:t>SHA-256</a:t>
            </a:r>
            <a:endParaRPr lang="en-US" sz="2200" dirty="0"/>
          </a:p>
        </p:txBody>
      </p:sp>
      <p:sp>
        <p:nvSpPr>
          <p:cNvPr id="14" name="Text 11"/>
          <p:cNvSpPr txBox="1"/>
          <p:nvPr/>
        </p:nvSpPr>
        <p:spPr>
          <a:xfrm>
            <a:off x="6263640" y="5584241"/>
            <a:ext cx="2377440" cy="573329"/>
          </a:xfrm>
          <a:prstGeom prst="rect">
            <a:avLst/>
          </a:prstGeom>
          <a:noFill/>
          <a:ln/>
        </p:spPr>
        <p:txBody>
          <a:bodyPr wrap="square" lIns="0" tIns="0" rIns="0" bIns="0" rtlCol="0" anchor="t"/>
          <a:lstStyle/>
          <a:p>
            <a:pPr algn="ctr" indent="0" marL="0">
              <a:buNone/>
            </a:pPr>
            <a:r>
              <a:rPr lang="en-US" sz="1150" dirty="0">
                <a:solidFill>
                  <a:srgbClr val="5B6B82"/>
                </a:solidFill>
                <a:latin typeface="Calibri" pitchFamily="34" charset="0"/>
                <a:ea typeface="Calibri" pitchFamily="34" charset="-122"/>
                <a:cs typeface="Calibri" pitchFamily="34" charset="-120"/>
              </a:rPr>
              <a:t>Match confirmed</a:t>
            </a:r>
            <a:endParaRPr lang="en-US" sz="1150" dirty="0"/>
          </a:p>
        </p:txBody>
      </p:sp>
      <p:sp>
        <p:nvSpPr>
          <p:cNvPr id="15" name="Shape 12"/>
          <p:cNvSpPr/>
          <p:nvPr/>
        </p:nvSpPr>
        <p:spPr>
          <a:xfrm>
            <a:off x="8915400" y="4709160"/>
            <a:ext cx="2651760" cy="1508760"/>
          </a:xfrm>
          <a:prstGeom prst="roundRect">
            <a:avLst>
              <a:gd name="adj" fmla="val 4848"/>
            </a:avLst>
          </a:prstGeom>
          <a:solidFill>
            <a:srgbClr val="FFFFFF"/>
          </a:solidFill>
          <a:ln w="12700">
            <a:solidFill>
              <a:srgbClr val="D8DEE7"/>
            </a:solidFill>
            <a:prstDash val="solid"/>
          </a:ln>
          <a:effectLst>
            <a:outerShdw sx="100000" sy="100000" kx="0" ky="0" algn="bl" rotWithShape="0" blurRad="76200" dist="25400" dir="5400000">
              <a:srgbClr val="1B2A4A">
                <a:alpha val="12000"/>
              </a:srgbClr>
            </a:outerShdw>
          </a:effectLst>
        </p:spPr>
      </p:sp>
      <p:sp>
        <p:nvSpPr>
          <p:cNvPr id="16" name="Text 13"/>
          <p:cNvSpPr txBox="1"/>
          <p:nvPr/>
        </p:nvSpPr>
        <p:spPr>
          <a:xfrm>
            <a:off x="8915400" y="4818888"/>
            <a:ext cx="2651760" cy="829818"/>
          </a:xfrm>
          <a:prstGeom prst="rect">
            <a:avLst/>
          </a:prstGeom>
          <a:noFill/>
          <a:ln/>
        </p:spPr>
        <p:txBody>
          <a:bodyPr wrap="square" lIns="0" tIns="0" rIns="0" bIns="0" rtlCol="0" anchor="b"/>
          <a:lstStyle/>
          <a:p>
            <a:pPr algn="ctr" indent="0" marL="0">
              <a:buNone/>
            </a:pPr>
            <a:r>
              <a:rPr lang="en-US" sz="2200" b="1" dirty="0">
                <a:solidFill>
                  <a:srgbClr val="0F6E56"/>
                </a:solidFill>
                <a:latin typeface="Cambria" pitchFamily="34" charset="0"/>
                <a:ea typeface="Cambria" pitchFamily="34" charset="-122"/>
                <a:cs typeface="Cambria" pitchFamily="34" charset="-120"/>
              </a:rPr>
              <a:t>ok</a:t>
            </a:r>
            <a:endParaRPr lang="en-US" sz="2200" dirty="0"/>
          </a:p>
        </p:txBody>
      </p:sp>
      <p:sp>
        <p:nvSpPr>
          <p:cNvPr id="17" name="Text 14"/>
          <p:cNvSpPr txBox="1"/>
          <p:nvPr/>
        </p:nvSpPr>
        <p:spPr>
          <a:xfrm>
            <a:off x="9052560" y="5584241"/>
            <a:ext cx="2377440" cy="573329"/>
          </a:xfrm>
          <a:prstGeom prst="rect">
            <a:avLst/>
          </a:prstGeom>
          <a:noFill/>
          <a:ln/>
        </p:spPr>
        <p:txBody>
          <a:bodyPr wrap="square" lIns="0" tIns="0" rIns="0" bIns="0" rtlCol="0" anchor="t"/>
          <a:lstStyle/>
          <a:p>
            <a:pPr algn="ctr" indent="0" marL="0">
              <a:buNone/>
            </a:pPr>
            <a:r>
              <a:rPr lang="en-US" sz="1150" dirty="0">
                <a:solidFill>
                  <a:srgbClr val="5B6B82"/>
                </a:solidFill>
                <a:latin typeface="Calibri" pitchFamily="34" charset="0"/>
                <a:ea typeface="Calibri" pitchFamily="34" charset="-122"/>
                <a:cs typeface="Calibri" pitchFamily="34" charset="-120"/>
              </a:rPr>
              <a:t>PRAGMA integrity_check</a:t>
            </a:r>
            <a:endParaRPr lang="en-US" sz="1150" dirty="0"/>
          </a:p>
        </p:txBody>
      </p:sp>
      <p:sp>
        <p:nvSpPr>
          <p:cNvPr id="18" name="Text 1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9" name="Text 16"/>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CROSS-PLATFORM ARCHITECTURE</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Web vault tested; other clients are documented capabilities</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pic>
        <p:nvPicPr>
          <p:cNvPr id="5" name="Image 0" descr="/home/claude/project/diagrams/06_crossplatform.png">    </p:cNvPr>
          <p:cNvPicPr>
            <a:picLocks noChangeAspect="1"/>
          </p:cNvPicPr>
          <p:nvPr/>
        </p:nvPicPr>
        <p:blipFill>
          <a:blip r:embed="rId1"/>
          <a:stretch>
            <a:fillRect/>
          </a:stretch>
        </p:blipFill>
        <p:spPr>
          <a:xfrm>
            <a:off x="1188720" y="2183892"/>
            <a:ext cx="6766560" cy="3496056"/>
          </a:xfrm>
          <a:prstGeom prst="rect">
            <a:avLst/>
          </a:prstGeom>
        </p:spPr>
      </p:pic>
      <p:sp>
        <p:nvSpPr>
          <p:cNvPr id="6" name="Shape 3"/>
          <p:cNvSpPr/>
          <p:nvPr/>
        </p:nvSpPr>
        <p:spPr>
          <a:xfrm>
            <a:off x="8229600" y="1554480"/>
            <a:ext cx="3429000" cy="4754880"/>
          </a:xfrm>
          <a:prstGeom prst="roundRect">
            <a:avLst>
              <a:gd name="adj" fmla="val 1867"/>
            </a:avLst>
          </a:prstGeom>
          <a:solidFill>
            <a:srgbClr val="FFF6E5"/>
          </a:solidFill>
          <a:ln w="12700">
            <a:solidFill>
              <a:srgbClr val="B8790C"/>
            </a:solidFill>
            <a:prstDash val="solid"/>
          </a:ln>
          <a:effectLst>
            <a:outerShdw sx="100000" sy="100000" kx="0" ky="0" algn="bl" rotWithShape="0" blurRad="76200" dist="25400" dir="5400000">
              <a:srgbClr val="1B2A4A">
                <a:alpha val="10000"/>
              </a:srgbClr>
            </a:outerShdw>
          </a:effectLst>
        </p:spPr>
      </p:sp>
      <p:sp>
        <p:nvSpPr>
          <p:cNvPr id="7" name="Text 4"/>
          <p:cNvSpPr txBox="1"/>
          <p:nvPr/>
        </p:nvSpPr>
        <p:spPr>
          <a:xfrm>
            <a:off x="8430768" y="1719072"/>
            <a:ext cx="3026664" cy="329184"/>
          </a:xfrm>
          <a:prstGeom prst="rect">
            <a:avLst/>
          </a:prstGeom>
          <a:noFill/>
          <a:ln/>
        </p:spPr>
        <p:txBody>
          <a:bodyPr wrap="square" lIns="0" tIns="0" rIns="0" bIns="0" rtlCol="0" anchor="ctr"/>
          <a:lstStyle/>
          <a:p>
            <a:pPr indent="0" marL="0">
              <a:buNone/>
            </a:pPr>
            <a:r>
              <a:rPr lang="en-US" sz="1400" b="1" dirty="0">
                <a:solidFill>
                  <a:srgbClr val="7A4E08"/>
                </a:solidFill>
                <a:latin typeface="Calibri" pitchFamily="34" charset="0"/>
                <a:ea typeface="Calibri" pitchFamily="34" charset="-122"/>
                <a:cs typeface="Calibri" pitchFamily="34" charset="-120"/>
              </a:rPr>
              <a:t>Honest scope</a:t>
            </a:r>
            <a:endParaRPr lang="en-US" sz="1400" dirty="0"/>
          </a:p>
        </p:txBody>
      </p:sp>
      <p:sp>
        <p:nvSpPr>
          <p:cNvPr id="8" name="Text 5"/>
          <p:cNvSpPr txBox="1"/>
          <p:nvPr/>
        </p:nvSpPr>
        <p:spPr>
          <a:xfrm>
            <a:off x="8430768" y="2103120"/>
            <a:ext cx="3026664"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Web vault: tested and verified</a:t>
            </a:r>
            <a:endParaRPr lang="en-US" sz="1300" dirty="0"/>
          </a:p>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Browser extension: offered in UI, never installed</a:t>
            </a:r>
            <a:endParaRPr lang="en-US" sz="1300" dirty="0"/>
          </a:p>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Desktop app: not connected to this instance</a:t>
            </a:r>
            <a:endParaRPr lang="en-US" sz="1300" dirty="0"/>
          </a:p>
          <a:p>
            <a:pPr marL="177800" indent="-177800">
              <a:spcAft>
                <a:spcPts val="600"/>
              </a:spcAft>
              <a:buSzPct val="100000"/>
              <a:buChar char="•"/>
            </a:pPr>
            <a:r>
              <a:rPr lang="en-US" sz="1300" dirty="0">
                <a:solidFill>
                  <a:srgbClr val="16233F"/>
                </a:solidFill>
                <a:latin typeface="Calibri" pitchFamily="34" charset="0"/>
                <a:ea typeface="Calibri" pitchFamily="34" charset="-122"/>
                <a:cs typeface="Calibri" pitchFamily="34" charset="-120"/>
              </a:rPr>
              <a:t>Mobile app: no device testing performed</a:t>
            </a:r>
            <a:endParaRPr lang="en-US" sz="1300" dirty="0"/>
          </a:p>
        </p:txBody>
      </p:sp>
      <p:sp>
        <p:nvSpPr>
          <p:cNvPr id="9" name="Text 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0" name="Text 7"/>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USABILITY &amp; PASSWORD SECURITY</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Search, sharing, and password-health checks all verified</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pic>
        <p:nvPicPr>
          <p:cNvPr id="5" name="Image 0" descr="/home/claude/project/diagrams/08_password_workflow.png">    </p:cNvPr>
          <p:cNvPicPr>
            <a:picLocks noChangeAspect="1"/>
          </p:cNvPicPr>
          <p:nvPr/>
        </p:nvPicPr>
        <p:blipFill>
          <a:blip r:embed="rId1"/>
          <a:stretch>
            <a:fillRect/>
          </a:stretch>
        </p:blipFill>
        <p:spPr>
          <a:xfrm>
            <a:off x="548640" y="1765249"/>
            <a:ext cx="11109960" cy="1407262"/>
          </a:xfrm>
          <a:prstGeom prst="rect">
            <a:avLst/>
          </a:prstGeom>
        </p:spPr>
      </p:pic>
      <p:pic>
        <p:nvPicPr>
          <p:cNvPr id="6" name="Image 1" descr="/home/claude/project/figures/orig/Password_Health_Report.png">    </p:cNvPr>
          <p:cNvPicPr>
            <a:picLocks noChangeAspect="1"/>
          </p:cNvPicPr>
          <p:nvPr/>
        </p:nvPicPr>
        <p:blipFill>
          <a:blip r:embed="rId2"/>
          <a:stretch>
            <a:fillRect/>
          </a:stretch>
        </p:blipFill>
        <p:spPr>
          <a:xfrm>
            <a:off x="548640" y="3713589"/>
            <a:ext cx="5486400" cy="2356903"/>
          </a:xfrm>
          <a:prstGeom prst="rect">
            <a:avLst/>
          </a:prstGeom>
        </p:spPr>
      </p:pic>
      <p:sp>
        <p:nvSpPr>
          <p:cNvPr id="7" name="Shape 3"/>
          <p:cNvSpPr/>
          <p:nvPr/>
        </p:nvSpPr>
        <p:spPr>
          <a:xfrm>
            <a:off x="6263640" y="3520440"/>
            <a:ext cx="5394960" cy="2743200"/>
          </a:xfrm>
          <a:prstGeom prst="roundRect">
            <a:avLst>
              <a:gd name="adj" fmla="val 2333"/>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8" name="Text 4"/>
          <p:cNvSpPr txBox="1"/>
          <p:nvPr/>
        </p:nvSpPr>
        <p:spPr>
          <a:xfrm>
            <a:off x="6464808" y="3685032"/>
            <a:ext cx="499262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Verified this stage</a:t>
            </a:r>
            <a:endParaRPr lang="en-US" sz="1400" dirty="0"/>
          </a:p>
        </p:txBody>
      </p:sp>
      <p:sp>
        <p:nvSpPr>
          <p:cNvPr id="9" name="Text 5"/>
          <p:cNvSpPr txBox="1"/>
          <p:nvPr/>
        </p:nvSpPr>
        <p:spPr>
          <a:xfrm>
            <a:off x="6464808" y="4069080"/>
            <a:ext cx="4992624" cy="20574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Vault search correctly filters to matching items</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Organization weak-password report flags a "Very Weak" item</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Item creation and sharing confirmed via API logs (200 OK)</a:t>
            </a:r>
            <a:endParaRPr lang="en-US" sz="1350" dirty="0"/>
          </a:p>
        </p:txBody>
      </p:sp>
      <p:sp>
        <p:nvSpPr>
          <p:cNvPr id="10" name="Text 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1" name="Text 7"/>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MONITORING &amp; LOGGING</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Structured logs surfaced both successes and open findings</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pic>
        <p:nvPicPr>
          <p:cNvPr id="5" name="Image 0" descr="/home/claude/project/diagrams/07_monitoring.png">    </p:cNvPr>
          <p:cNvPicPr>
            <a:picLocks noChangeAspect="1"/>
          </p:cNvPicPr>
          <p:nvPr/>
        </p:nvPicPr>
        <p:blipFill>
          <a:blip r:embed="rId1"/>
          <a:stretch>
            <a:fillRect/>
          </a:stretch>
        </p:blipFill>
        <p:spPr>
          <a:xfrm>
            <a:off x="548640" y="1900238"/>
            <a:ext cx="11109960" cy="2005965"/>
          </a:xfrm>
          <a:prstGeom prst="rect">
            <a:avLst/>
          </a:prstGeom>
        </p:spPr>
      </p:pic>
      <p:sp>
        <p:nvSpPr>
          <p:cNvPr id="6" name="Shape 3"/>
          <p:cNvSpPr/>
          <p:nvPr/>
        </p:nvSpPr>
        <p:spPr>
          <a:xfrm>
            <a:off x="548640" y="4343400"/>
            <a:ext cx="5394960" cy="1920240"/>
          </a:xfrm>
          <a:prstGeom prst="roundRect">
            <a:avLst>
              <a:gd name="adj" fmla="val 3333"/>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7" name="Text 4"/>
          <p:cNvSpPr txBox="1"/>
          <p:nvPr/>
        </p:nvSpPr>
        <p:spPr>
          <a:xfrm>
            <a:off x="749808" y="4507992"/>
            <a:ext cx="499262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Captured in logs</a:t>
            </a:r>
            <a:endParaRPr lang="en-US" sz="1400" dirty="0"/>
          </a:p>
        </p:txBody>
      </p:sp>
      <p:sp>
        <p:nvSpPr>
          <p:cNvPr id="8" name="Text 5"/>
          <p:cNvSpPr txBox="1"/>
          <p:nvPr/>
        </p:nvSpPr>
        <p:spPr>
          <a:xfrm>
            <a:off x="749808" y="4892040"/>
            <a:ext cx="4992624" cy="12344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Successful login with source IP</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Failed login and missing-TOTP rejections</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Cipher create/share operations</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Graceful container shutdown &amp; restart</a:t>
            </a:r>
            <a:endParaRPr lang="en-US" sz="1250" dirty="0"/>
          </a:p>
        </p:txBody>
      </p:sp>
      <p:sp>
        <p:nvSpPr>
          <p:cNvPr id="9" name="Shape 6"/>
          <p:cNvSpPr/>
          <p:nvPr/>
        </p:nvSpPr>
        <p:spPr>
          <a:xfrm>
            <a:off x="6217920" y="4343400"/>
            <a:ext cx="5440680" cy="1920240"/>
          </a:xfrm>
          <a:prstGeom prst="roundRect">
            <a:avLst>
              <a:gd name="adj" fmla="val 3333"/>
            </a:avLst>
          </a:prstGeom>
          <a:solidFill>
            <a:srgbClr val="FCEEEA"/>
          </a:solidFill>
          <a:ln w="12700">
            <a:solidFill>
              <a:srgbClr val="B8461F"/>
            </a:solidFill>
            <a:prstDash val="solid"/>
          </a:ln>
          <a:effectLst>
            <a:outerShdw sx="100000" sy="100000" kx="0" ky="0" algn="bl" rotWithShape="0" blurRad="76200" dist="25400" dir="5400000">
              <a:srgbClr val="1B2A4A">
                <a:alpha val="10000"/>
              </a:srgbClr>
            </a:outerShdw>
          </a:effectLst>
        </p:spPr>
      </p:sp>
      <p:sp>
        <p:nvSpPr>
          <p:cNvPr id="10" name="Text 7"/>
          <p:cNvSpPr txBox="1"/>
          <p:nvPr/>
        </p:nvSpPr>
        <p:spPr>
          <a:xfrm>
            <a:off x="6419088" y="4507992"/>
            <a:ext cx="5038344" cy="329184"/>
          </a:xfrm>
          <a:prstGeom prst="rect">
            <a:avLst/>
          </a:prstGeom>
          <a:noFill/>
          <a:ln/>
        </p:spPr>
        <p:txBody>
          <a:bodyPr wrap="square" lIns="0" tIns="0" rIns="0" bIns="0" rtlCol="0" anchor="ctr"/>
          <a:lstStyle/>
          <a:p>
            <a:pPr indent="0" marL="0">
              <a:buNone/>
            </a:pPr>
            <a:r>
              <a:rPr lang="en-US" sz="1400" b="1" dirty="0">
                <a:solidFill>
                  <a:srgbClr val="7A2E13"/>
                </a:solidFill>
                <a:latin typeface="Calibri" pitchFamily="34" charset="0"/>
                <a:ea typeface="Calibri" pitchFamily="34" charset="-122"/>
                <a:cs typeface="Calibri" pitchFamily="34" charset="-120"/>
              </a:rPr>
              <a:t>Open finding</a:t>
            </a:r>
            <a:endParaRPr lang="en-US" sz="1400" dirty="0"/>
          </a:p>
        </p:txBody>
      </p:sp>
      <p:sp>
        <p:nvSpPr>
          <p:cNvPr id="11" name="Text 8"/>
          <p:cNvSpPr txBox="1"/>
          <p:nvPr/>
        </p:nvSpPr>
        <p:spPr>
          <a:xfrm>
            <a:off x="6419088" y="4892040"/>
            <a:ext cx="5038344" cy="12344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Vaultwarden’s own NOTICE: plaintext ADMIN_TOKEN is insecure — recurs in later logs, not shown resolved</a:t>
            </a:r>
            <a:endParaRPr lang="en-US" sz="1250" dirty="0"/>
          </a:p>
        </p:txBody>
      </p:sp>
      <p:sp>
        <p:nvSpPr>
          <p:cNvPr id="12" name="Text 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3" name="Text 10"/>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SECURITY TESTING</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Twenty direct tests — not a review of configuration screenshots</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sp>
        <p:nvSpPr>
          <p:cNvPr id="5" name="Shape 3"/>
          <p:cNvSpPr/>
          <p:nvPr/>
        </p:nvSpPr>
        <p:spPr>
          <a:xfrm>
            <a:off x="548640" y="1691640"/>
            <a:ext cx="2697480" cy="1737360"/>
          </a:xfrm>
          <a:prstGeom prst="roundRect">
            <a:avLst>
              <a:gd name="adj" fmla="val 4211"/>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6" name="Text 4"/>
          <p:cNvSpPr txBox="1"/>
          <p:nvPr/>
        </p:nvSpPr>
        <p:spPr>
          <a:xfrm>
            <a:off x="548640" y="1874520"/>
            <a:ext cx="2697480" cy="548640"/>
          </a:xfrm>
          <a:prstGeom prst="rect">
            <a:avLst/>
          </a:prstGeom>
          <a:noFill/>
          <a:ln/>
        </p:spPr>
        <p:txBody>
          <a:bodyPr wrap="square" lIns="0" tIns="0" rIns="0" bIns="0" rtlCol="0" anchor="ctr"/>
          <a:lstStyle/>
          <a:p>
            <a:pPr algn="ctr" indent="0" marL="0">
              <a:buNone/>
            </a:pPr>
            <a:r>
              <a:rPr lang="en-US" sz="2000" b="1" dirty="0">
                <a:solidFill>
                  <a:srgbClr val="0F6E56"/>
                </a:solidFill>
                <a:latin typeface="Calibri" pitchFamily="34" charset="0"/>
                <a:ea typeface="Calibri" pitchFamily="34" charset="-122"/>
                <a:cs typeface="Calibri" pitchFamily="34" charset="-120"/>
              </a:rPr>
              <a:t>curl</a:t>
            </a:r>
            <a:endParaRPr lang="en-US" sz="2000" dirty="0"/>
          </a:p>
        </p:txBody>
      </p:sp>
      <p:sp>
        <p:nvSpPr>
          <p:cNvPr id="7" name="Text 5"/>
          <p:cNvSpPr txBox="1"/>
          <p:nvPr/>
        </p:nvSpPr>
        <p:spPr>
          <a:xfrm>
            <a:off x="731520" y="2468880"/>
            <a:ext cx="2331720" cy="82296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HTTPS headers &amp; response codes</a:t>
            </a:r>
            <a:endParaRPr lang="en-US" sz="1200" dirty="0"/>
          </a:p>
        </p:txBody>
      </p:sp>
      <p:sp>
        <p:nvSpPr>
          <p:cNvPr id="8" name="Shape 6"/>
          <p:cNvSpPr/>
          <p:nvPr/>
        </p:nvSpPr>
        <p:spPr>
          <a:xfrm>
            <a:off x="3456432" y="1691640"/>
            <a:ext cx="2697480" cy="1737360"/>
          </a:xfrm>
          <a:prstGeom prst="roundRect">
            <a:avLst>
              <a:gd name="adj" fmla="val 4211"/>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9" name="Text 7"/>
          <p:cNvSpPr txBox="1"/>
          <p:nvPr/>
        </p:nvSpPr>
        <p:spPr>
          <a:xfrm>
            <a:off x="3456432" y="1874520"/>
            <a:ext cx="2697480" cy="548640"/>
          </a:xfrm>
          <a:prstGeom prst="rect">
            <a:avLst/>
          </a:prstGeom>
          <a:noFill/>
          <a:ln/>
        </p:spPr>
        <p:txBody>
          <a:bodyPr wrap="square" lIns="0" tIns="0" rIns="0" bIns="0" rtlCol="0" anchor="ctr"/>
          <a:lstStyle/>
          <a:p>
            <a:pPr algn="ctr" indent="0" marL="0">
              <a:buNone/>
            </a:pPr>
            <a:r>
              <a:rPr lang="en-US" sz="2000" b="1" dirty="0">
                <a:solidFill>
                  <a:srgbClr val="0F6E56"/>
                </a:solidFill>
                <a:latin typeface="Calibri" pitchFamily="34" charset="0"/>
                <a:ea typeface="Calibri" pitchFamily="34" charset="-122"/>
                <a:cs typeface="Calibri" pitchFamily="34" charset="-120"/>
              </a:rPr>
              <a:t>openssl</a:t>
            </a:r>
            <a:endParaRPr lang="en-US" sz="2000" dirty="0"/>
          </a:p>
        </p:txBody>
      </p:sp>
      <p:sp>
        <p:nvSpPr>
          <p:cNvPr id="10" name="Text 8"/>
          <p:cNvSpPr txBox="1"/>
          <p:nvPr/>
        </p:nvSpPr>
        <p:spPr>
          <a:xfrm>
            <a:off x="3639312" y="2468880"/>
            <a:ext cx="2331720" cy="82296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TLS certificate &amp; encryption</a:t>
            </a:r>
            <a:endParaRPr lang="en-US" sz="1200" dirty="0"/>
          </a:p>
        </p:txBody>
      </p:sp>
      <p:sp>
        <p:nvSpPr>
          <p:cNvPr id="11" name="Shape 9"/>
          <p:cNvSpPr/>
          <p:nvPr/>
        </p:nvSpPr>
        <p:spPr>
          <a:xfrm>
            <a:off x="6364224" y="1691640"/>
            <a:ext cx="2697480" cy="1737360"/>
          </a:xfrm>
          <a:prstGeom prst="roundRect">
            <a:avLst>
              <a:gd name="adj" fmla="val 4211"/>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2" name="Text 10"/>
          <p:cNvSpPr txBox="1"/>
          <p:nvPr/>
        </p:nvSpPr>
        <p:spPr>
          <a:xfrm>
            <a:off x="6364224" y="1874520"/>
            <a:ext cx="2697480" cy="548640"/>
          </a:xfrm>
          <a:prstGeom prst="rect">
            <a:avLst/>
          </a:prstGeom>
          <a:noFill/>
          <a:ln/>
        </p:spPr>
        <p:txBody>
          <a:bodyPr wrap="square" lIns="0" tIns="0" rIns="0" bIns="0" rtlCol="0" anchor="ctr"/>
          <a:lstStyle/>
          <a:p>
            <a:pPr algn="ctr" indent="0" marL="0">
              <a:buNone/>
            </a:pPr>
            <a:r>
              <a:rPr lang="en-US" sz="2000" b="1" dirty="0">
                <a:solidFill>
                  <a:srgbClr val="0F6E56"/>
                </a:solidFill>
                <a:latin typeface="Calibri" pitchFamily="34" charset="0"/>
                <a:ea typeface="Calibri" pitchFamily="34" charset="-122"/>
                <a:cs typeface="Calibri" pitchFamily="34" charset="-120"/>
              </a:rPr>
              <a:t>sqlite3</a:t>
            </a:r>
            <a:endParaRPr lang="en-US" sz="2000" dirty="0"/>
          </a:p>
        </p:txBody>
      </p:sp>
      <p:sp>
        <p:nvSpPr>
          <p:cNvPr id="13" name="Text 11"/>
          <p:cNvSpPr txBox="1"/>
          <p:nvPr/>
        </p:nvSpPr>
        <p:spPr>
          <a:xfrm>
            <a:off x="6547104" y="2468880"/>
            <a:ext cx="2331720" cy="82296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Ciphertext &amp; schema inspection</a:t>
            </a:r>
            <a:endParaRPr lang="en-US" sz="1200" dirty="0"/>
          </a:p>
        </p:txBody>
      </p:sp>
      <p:sp>
        <p:nvSpPr>
          <p:cNvPr id="14" name="Shape 12"/>
          <p:cNvSpPr/>
          <p:nvPr/>
        </p:nvSpPr>
        <p:spPr>
          <a:xfrm>
            <a:off x="9272016" y="1691640"/>
            <a:ext cx="2697480" cy="1737360"/>
          </a:xfrm>
          <a:prstGeom prst="roundRect">
            <a:avLst>
              <a:gd name="adj" fmla="val 4211"/>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5" name="Text 13"/>
          <p:cNvSpPr txBox="1"/>
          <p:nvPr/>
        </p:nvSpPr>
        <p:spPr>
          <a:xfrm>
            <a:off x="9272016" y="1874520"/>
            <a:ext cx="2697480" cy="548640"/>
          </a:xfrm>
          <a:prstGeom prst="rect">
            <a:avLst/>
          </a:prstGeom>
          <a:noFill/>
          <a:ln/>
        </p:spPr>
        <p:txBody>
          <a:bodyPr wrap="square" lIns="0" tIns="0" rIns="0" bIns="0" rtlCol="0" anchor="ctr"/>
          <a:lstStyle/>
          <a:p>
            <a:pPr algn="ctr" indent="0" marL="0">
              <a:buNone/>
            </a:pPr>
            <a:r>
              <a:rPr lang="en-US" sz="2000" b="1" dirty="0">
                <a:solidFill>
                  <a:srgbClr val="0F6E56"/>
                </a:solidFill>
                <a:latin typeface="Calibri" pitchFamily="34" charset="0"/>
                <a:ea typeface="Calibri" pitchFamily="34" charset="-122"/>
                <a:cs typeface="Calibri" pitchFamily="34" charset="-120"/>
              </a:rPr>
              <a:t>docker</a:t>
            </a:r>
            <a:endParaRPr lang="en-US" sz="2000" dirty="0"/>
          </a:p>
        </p:txBody>
      </p:sp>
      <p:sp>
        <p:nvSpPr>
          <p:cNvPr id="16" name="Text 14"/>
          <p:cNvSpPr txBox="1"/>
          <p:nvPr/>
        </p:nvSpPr>
        <p:spPr>
          <a:xfrm>
            <a:off x="9454896" y="2468880"/>
            <a:ext cx="2331720" cy="82296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Logs, health checks, resource stats</a:t>
            </a:r>
            <a:endParaRPr lang="en-US" sz="1200" dirty="0"/>
          </a:p>
        </p:txBody>
      </p:sp>
      <p:sp>
        <p:nvSpPr>
          <p:cNvPr id="17" name="Shape 15"/>
          <p:cNvSpPr/>
          <p:nvPr/>
        </p:nvSpPr>
        <p:spPr>
          <a:xfrm>
            <a:off x="548640" y="3794760"/>
            <a:ext cx="11109960" cy="2423160"/>
          </a:xfrm>
          <a:prstGeom prst="roundRect">
            <a:avLst>
              <a:gd name="adj" fmla="val 2642"/>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8" name="Text 16"/>
          <p:cNvSpPr txBox="1"/>
          <p:nvPr/>
        </p:nvSpPr>
        <p:spPr>
          <a:xfrm>
            <a:off x="749808" y="3959352"/>
            <a:ext cx="1070762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Testing approach</a:t>
            </a:r>
            <a:endParaRPr lang="en-US" sz="1400" dirty="0"/>
          </a:p>
        </p:txBody>
      </p:sp>
      <p:sp>
        <p:nvSpPr>
          <p:cNvPr id="19" name="Text 17"/>
          <p:cNvSpPr txBox="1"/>
          <p:nvPr/>
        </p:nvSpPr>
        <p:spPr>
          <a:xfrm>
            <a:off x="749808" y="4343400"/>
            <a:ext cx="10707624" cy="173736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Every claim in the report is tied to a specific command, its output, and an evidence file — not inferred from a settings page</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Where evidence was ambiguous or contradictory (e.g. two different file-permission readings), both readings are reported rather than the more favorable one</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Where no evidence exists (mobile, browser extension), the capability is labeled "documented, not tested" rather than assumed to work</a:t>
            </a:r>
            <a:endParaRPr lang="en-US" sz="1350" dirty="0"/>
          </a:p>
        </p:txBody>
      </p:sp>
      <p:sp>
        <p:nvSpPr>
          <p:cNvPr id="20"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21" name="Text 19"/>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TEST RESULTS</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20 test cases across every control area</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graphicFrame>
        <p:nvGraphicFramePr>
          <p:cNvPr id="5" name="Chart 0" descr=""/>
          <p:cNvGraphicFramePr/>
          <p:nvPr/>
        </p:nvGraphicFramePr>
        <p:xfrm>
          <a:off x="457200" y="1554480"/>
          <a:ext cx="5120640" cy="4663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43600" y="1554480"/>
            <a:ext cx="5715000" cy="2148840"/>
          </a:xfrm>
          <a:prstGeom prst="roundRect">
            <a:avLst>
              <a:gd name="adj" fmla="val 2979"/>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7" name="Text 4"/>
          <p:cNvSpPr txBox="1"/>
          <p:nvPr/>
        </p:nvSpPr>
        <p:spPr>
          <a:xfrm>
            <a:off x="6144768" y="1719072"/>
            <a:ext cx="531266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Representative passes</a:t>
            </a:r>
            <a:endParaRPr lang="en-US" sz="1400" dirty="0"/>
          </a:p>
        </p:txBody>
      </p:sp>
      <p:sp>
        <p:nvSpPr>
          <p:cNvPr id="8" name="Text 5"/>
          <p:cNvSpPr txBox="1"/>
          <p:nvPr/>
        </p:nvSpPr>
        <p:spPr>
          <a:xfrm>
            <a:off x="6144768" y="2103120"/>
            <a:ext cx="5312664" cy="1463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TC-01/02: HTTPS headers + TLS cert confirmed</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TC-06: "2FA token not provided" — genuine MFA failure</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TC-08: restricted member access demonstrated live</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TC-12/13: backups decrypt with matching SHA-256 hashes</a:t>
            </a:r>
            <a:endParaRPr lang="en-US" sz="1250" dirty="0"/>
          </a:p>
        </p:txBody>
      </p:sp>
      <p:sp>
        <p:nvSpPr>
          <p:cNvPr id="9" name="Shape 6"/>
          <p:cNvSpPr/>
          <p:nvPr/>
        </p:nvSpPr>
        <p:spPr>
          <a:xfrm>
            <a:off x="5943600" y="3840480"/>
            <a:ext cx="5715000" cy="2377440"/>
          </a:xfrm>
          <a:prstGeom prst="roundRect">
            <a:avLst>
              <a:gd name="adj" fmla="val 2692"/>
            </a:avLst>
          </a:prstGeom>
          <a:solidFill>
            <a:srgbClr val="FFF6E5"/>
          </a:solidFill>
          <a:ln w="12700">
            <a:solidFill>
              <a:srgbClr val="B8790C"/>
            </a:solidFill>
            <a:prstDash val="solid"/>
          </a:ln>
          <a:effectLst>
            <a:outerShdw sx="100000" sy="100000" kx="0" ky="0" algn="bl" rotWithShape="0" blurRad="76200" dist="25400" dir="5400000">
              <a:srgbClr val="1B2A4A">
                <a:alpha val="10000"/>
              </a:srgbClr>
            </a:outerShdw>
          </a:effectLst>
        </p:spPr>
      </p:sp>
      <p:sp>
        <p:nvSpPr>
          <p:cNvPr id="10" name="Text 7"/>
          <p:cNvSpPr txBox="1"/>
          <p:nvPr/>
        </p:nvSpPr>
        <p:spPr>
          <a:xfrm>
            <a:off x="6144768" y="4005072"/>
            <a:ext cx="5312664" cy="329184"/>
          </a:xfrm>
          <a:prstGeom prst="rect">
            <a:avLst/>
          </a:prstGeom>
          <a:noFill/>
          <a:ln/>
        </p:spPr>
        <p:txBody>
          <a:bodyPr wrap="square" lIns="0" tIns="0" rIns="0" bIns="0" rtlCol="0" anchor="ctr"/>
          <a:lstStyle/>
          <a:p>
            <a:pPr indent="0" marL="0">
              <a:buNone/>
            </a:pPr>
            <a:r>
              <a:rPr lang="en-US" sz="1400" b="1" dirty="0">
                <a:solidFill>
                  <a:srgbClr val="7A4E08"/>
                </a:solidFill>
                <a:latin typeface="Calibri" pitchFamily="34" charset="0"/>
                <a:ea typeface="Calibri" pitchFamily="34" charset="-122"/>
                <a:cs typeface="Calibri" pitchFamily="34" charset="-120"/>
              </a:rPr>
              <a:t>The two non-clean results</a:t>
            </a:r>
            <a:endParaRPr lang="en-US" sz="1400" dirty="0"/>
          </a:p>
        </p:txBody>
      </p:sp>
      <p:sp>
        <p:nvSpPr>
          <p:cNvPr id="11" name="Text 8"/>
          <p:cNvSpPr txBox="1"/>
          <p:nvPr/>
        </p:nvSpPr>
        <p:spPr>
          <a:xfrm>
            <a:off x="6144768" y="4389120"/>
            <a:ext cx="5312664" cy="16916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TC-14 (Inconclusive): rsa_key.pem permissions read as both 600 and 644 across two checks — final state unconfirmed</a:t>
            </a:r>
            <a:endParaRPr lang="en-US" sz="1250" dirty="0"/>
          </a:p>
          <a:p>
            <a:pPr marL="177800" indent="-177800">
              <a:spcAft>
                <a:spcPts val="600"/>
              </a:spcAft>
              <a:buSzPct val="100000"/>
              <a:buChar char="•"/>
            </a:pPr>
            <a:r>
              <a:rPr lang="en-US" sz="1250" dirty="0">
                <a:solidFill>
                  <a:srgbClr val="16233F"/>
                </a:solidFill>
                <a:latin typeface="Calibri" pitchFamily="34" charset="0"/>
                <a:ea typeface="Calibri" pitchFamily="34" charset="-122"/>
                <a:cs typeface="Calibri" pitchFamily="34" charset="-120"/>
              </a:rPr>
              <a:t>TC-20 (Not tested): browser-extension autofill — the extension was never installed</a:t>
            </a:r>
            <a:endParaRPr lang="en-US" sz="1250" dirty="0"/>
          </a:p>
        </p:txBody>
      </p:sp>
      <p:sp>
        <p:nvSpPr>
          <p:cNvPr id="12" name="Text 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3" name="Text 10"/>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LIMITATIONS</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Constraints by design, and findings left open by the evidence</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sp>
        <p:nvSpPr>
          <p:cNvPr id="5" name="Shape 3"/>
          <p:cNvSpPr/>
          <p:nvPr/>
        </p:nvSpPr>
        <p:spPr>
          <a:xfrm>
            <a:off x="548640" y="1600200"/>
            <a:ext cx="5440680" cy="4617720"/>
          </a:xfrm>
          <a:prstGeom prst="roundRect">
            <a:avLst>
              <a:gd name="adj" fmla="val 1386"/>
            </a:avLst>
          </a:prstGeom>
          <a:solidFill>
            <a:srgbClr val="EAF2FB"/>
          </a:solidFill>
          <a:ln w="12700">
            <a:solidFill>
              <a:srgbClr val="3060A8"/>
            </a:solidFill>
            <a:prstDash val="solid"/>
          </a:ln>
          <a:effectLst>
            <a:outerShdw sx="100000" sy="100000" kx="0" ky="0" algn="bl" rotWithShape="0" blurRad="76200" dist="25400" dir="5400000">
              <a:srgbClr val="1B2A4A">
                <a:alpha val="10000"/>
              </a:srgbClr>
            </a:outerShdw>
          </a:effectLst>
        </p:spPr>
      </p:sp>
      <p:sp>
        <p:nvSpPr>
          <p:cNvPr id="6" name="Text 4"/>
          <p:cNvSpPr txBox="1"/>
          <p:nvPr/>
        </p:nvSpPr>
        <p:spPr>
          <a:xfrm>
            <a:off x="749808" y="1764792"/>
            <a:ext cx="5038344" cy="329184"/>
          </a:xfrm>
          <a:prstGeom prst="rect">
            <a:avLst/>
          </a:prstGeom>
          <a:noFill/>
          <a:ln/>
        </p:spPr>
        <p:txBody>
          <a:bodyPr wrap="square" lIns="0" tIns="0" rIns="0" bIns="0" rtlCol="0" anchor="ctr"/>
          <a:lstStyle/>
          <a:p>
            <a:pPr indent="0" marL="0">
              <a:buNone/>
            </a:pPr>
            <a:r>
              <a:rPr lang="en-US" sz="1400" b="1" dirty="0">
                <a:solidFill>
                  <a:srgbClr val="1B3A66"/>
                </a:solidFill>
                <a:latin typeface="Calibri" pitchFamily="34" charset="0"/>
                <a:ea typeface="Calibri" pitchFamily="34" charset="-122"/>
                <a:cs typeface="Calibri" pitchFamily="34" charset="-120"/>
              </a:rPr>
              <a:t>Laboratory constraints (by design)</a:t>
            </a:r>
            <a:endParaRPr lang="en-US" sz="1400" dirty="0"/>
          </a:p>
        </p:txBody>
      </p:sp>
      <p:sp>
        <p:nvSpPr>
          <p:cNvPr id="7" name="Text 5"/>
          <p:cNvSpPr txBox="1"/>
          <p:nvPr/>
        </p:nvSpPr>
        <p:spPr>
          <a:xfrm>
            <a:off x="749808" y="2148840"/>
            <a:ext cx="5038344" cy="39319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Self-signed certificate; loopback/local-network only</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No mobile client or browser-extension testing</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No SSO, Duo, emergency-access, or Send testing</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No load, performance, or multi-user testing</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Vaultwarden is an unofficial Bitwarden-compatible server</a:t>
            </a:r>
            <a:endParaRPr lang="en-US" sz="1350" dirty="0"/>
          </a:p>
        </p:txBody>
      </p:sp>
      <p:sp>
        <p:nvSpPr>
          <p:cNvPr id="8" name="Shape 6"/>
          <p:cNvSpPr/>
          <p:nvPr/>
        </p:nvSpPr>
        <p:spPr>
          <a:xfrm>
            <a:off x="6217920" y="1600200"/>
            <a:ext cx="5440680" cy="4617720"/>
          </a:xfrm>
          <a:prstGeom prst="roundRect">
            <a:avLst>
              <a:gd name="adj" fmla="val 1386"/>
            </a:avLst>
          </a:prstGeom>
          <a:solidFill>
            <a:srgbClr val="FCEEEA"/>
          </a:solidFill>
          <a:ln w="12700">
            <a:solidFill>
              <a:srgbClr val="B8461F"/>
            </a:solidFill>
            <a:prstDash val="solid"/>
          </a:ln>
          <a:effectLst>
            <a:outerShdw sx="100000" sy="100000" kx="0" ky="0" algn="bl" rotWithShape="0" blurRad="76200" dist="25400" dir="5400000">
              <a:srgbClr val="1B2A4A">
                <a:alpha val="10000"/>
              </a:srgbClr>
            </a:outerShdw>
          </a:effectLst>
        </p:spPr>
      </p:sp>
      <p:sp>
        <p:nvSpPr>
          <p:cNvPr id="9" name="Text 7"/>
          <p:cNvSpPr txBox="1"/>
          <p:nvPr/>
        </p:nvSpPr>
        <p:spPr>
          <a:xfrm>
            <a:off x="6419088" y="1764792"/>
            <a:ext cx="5038344" cy="329184"/>
          </a:xfrm>
          <a:prstGeom prst="rect">
            <a:avLst/>
          </a:prstGeom>
          <a:noFill/>
          <a:ln/>
        </p:spPr>
        <p:txBody>
          <a:bodyPr wrap="square" lIns="0" tIns="0" rIns="0" bIns="0" rtlCol="0" anchor="ctr"/>
          <a:lstStyle/>
          <a:p>
            <a:pPr indent="0" marL="0">
              <a:buNone/>
            </a:pPr>
            <a:r>
              <a:rPr lang="en-US" sz="1400" b="1" dirty="0">
                <a:solidFill>
                  <a:srgbClr val="7A2E13"/>
                </a:solidFill>
                <a:latin typeface="Calibri" pitchFamily="34" charset="0"/>
                <a:ea typeface="Calibri" pitchFamily="34" charset="-122"/>
                <a:cs typeface="Calibri" pitchFamily="34" charset="-120"/>
              </a:rPr>
              <a:t>Open findings (not shown resolved)</a:t>
            </a:r>
            <a:endParaRPr lang="en-US" sz="1400" dirty="0"/>
          </a:p>
        </p:txBody>
      </p:sp>
      <p:sp>
        <p:nvSpPr>
          <p:cNvPr id="10" name="Text 8"/>
          <p:cNvSpPr txBox="1"/>
          <p:nvPr/>
        </p:nvSpPr>
        <p:spPr>
          <a:xfrm>
            <a:off x="6419088" y="2148840"/>
            <a:ext cx="5038344" cy="39319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Plaintext ADMIN_TOKEN — flagged by Vaultwarden itself, notice recurs later</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rsa_key.pem permissions inconsistent (600 vs 644)</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SIGNUPS_ALLOWED left enabled in the final configuration</a:t>
            </a:r>
            <a:endParaRPr lang="en-US" sz="1350" dirty="0"/>
          </a:p>
          <a:p>
            <a:pPr marL="177800" indent="-177800">
              <a:spcAft>
                <a:spcPts val="600"/>
              </a:spcAft>
              <a:buSzPct val="100000"/>
              <a:buChar char="•"/>
            </a:pPr>
            <a:r>
              <a:rPr lang="en-US" sz="1350" dirty="0">
                <a:solidFill>
                  <a:srgbClr val="16233F"/>
                </a:solidFill>
                <a:latin typeface="Calibri" pitchFamily="34" charset="0"/>
                <a:ea typeface="Calibri" pitchFamily="34" charset="-122"/>
                <a:cs typeface="Calibri" pitchFamily="34" charset="-120"/>
              </a:rPr>
              <a:t>No rate-limiting evidenced for repeated failed logins</a:t>
            </a:r>
            <a:endParaRPr lang="en-US" sz="1350" dirty="0"/>
          </a:p>
        </p:txBody>
      </p:sp>
      <p:sp>
        <p:nvSpPr>
          <p:cNvPr id="11" name="Text 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2" name="Text 10"/>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SECURITY RECOMMENDATIONS</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Moving from lab proof-of-concept to production</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sp>
        <p:nvSpPr>
          <p:cNvPr id="5" name="Shape 3"/>
          <p:cNvSpPr/>
          <p:nvPr/>
        </p:nvSpPr>
        <p:spPr>
          <a:xfrm>
            <a:off x="548640" y="1600200"/>
            <a:ext cx="544068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6" name="Shape 4"/>
          <p:cNvSpPr/>
          <p:nvPr/>
        </p:nvSpPr>
        <p:spPr>
          <a:xfrm>
            <a:off x="713232" y="1764792"/>
            <a:ext cx="502920" cy="502920"/>
          </a:xfrm>
          <a:prstGeom prst="roundRect">
            <a:avLst>
              <a:gd name="adj" fmla="val 50909"/>
            </a:avLst>
          </a:prstGeom>
          <a:solidFill>
            <a:srgbClr val="0F6E56"/>
          </a:solidFill>
          <a:ln/>
        </p:spPr>
      </p:sp>
      <p:sp>
        <p:nvSpPr>
          <p:cNvPr id="7" name="Text 5"/>
          <p:cNvSpPr txBox="1"/>
          <p:nvPr/>
        </p:nvSpPr>
        <p:spPr>
          <a:xfrm>
            <a:off x="713232" y="17647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53312" y="1746504"/>
            <a:ext cx="4480560" cy="548640"/>
          </a:xfrm>
          <a:prstGeom prst="rect">
            <a:avLst/>
          </a:prstGeom>
          <a:noFill/>
          <a:ln/>
        </p:spPr>
        <p:txBody>
          <a:bodyPr wrap="square" lIns="0" tIns="0" rIns="0" bIns="0" rtlCol="0" anchor="t"/>
          <a:lstStyle/>
          <a:p>
            <a:pPr indent="0" marL="0">
              <a:buNone/>
            </a:pPr>
            <a:r>
              <a:rPr lang="en-US" sz="1350" b="1" dirty="0">
                <a:solidFill>
                  <a:srgbClr val="16233F"/>
                </a:solidFill>
                <a:latin typeface="Calibri" pitchFamily="34" charset="0"/>
                <a:ea typeface="Calibri" pitchFamily="34" charset="-122"/>
                <a:cs typeface="Calibri" pitchFamily="34" charset="-120"/>
              </a:rPr>
              <a:t>Convert ADMIN_TOKEN to an Argon2 hash</a:t>
            </a:r>
            <a:endParaRPr lang="en-US" sz="1350" dirty="0"/>
          </a:p>
        </p:txBody>
      </p:sp>
      <p:sp>
        <p:nvSpPr>
          <p:cNvPr id="9" name="Text 7"/>
          <p:cNvSpPr txBox="1"/>
          <p:nvPr/>
        </p:nvSpPr>
        <p:spPr>
          <a:xfrm>
            <a:off x="1353312" y="2286000"/>
            <a:ext cx="4480560"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Directly instructed by Vaultwarden’s own log notice</a:t>
            </a:r>
            <a:endParaRPr lang="en-US" sz="1150" dirty="0"/>
          </a:p>
        </p:txBody>
      </p:sp>
      <p:sp>
        <p:nvSpPr>
          <p:cNvPr id="10" name="Shape 8"/>
          <p:cNvSpPr/>
          <p:nvPr/>
        </p:nvSpPr>
        <p:spPr>
          <a:xfrm>
            <a:off x="6217920" y="1600200"/>
            <a:ext cx="544068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1" name="Shape 9"/>
          <p:cNvSpPr/>
          <p:nvPr/>
        </p:nvSpPr>
        <p:spPr>
          <a:xfrm>
            <a:off x="6382512" y="1764792"/>
            <a:ext cx="502920" cy="502920"/>
          </a:xfrm>
          <a:prstGeom prst="roundRect">
            <a:avLst>
              <a:gd name="adj" fmla="val 50909"/>
            </a:avLst>
          </a:prstGeom>
          <a:solidFill>
            <a:srgbClr val="0F6E56"/>
          </a:solidFill>
          <a:ln/>
        </p:spPr>
      </p:sp>
      <p:sp>
        <p:nvSpPr>
          <p:cNvPr id="12" name="Text 10"/>
          <p:cNvSpPr txBox="1"/>
          <p:nvPr/>
        </p:nvSpPr>
        <p:spPr>
          <a:xfrm>
            <a:off x="6382512" y="17647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7022592" y="1746504"/>
            <a:ext cx="4480560" cy="548640"/>
          </a:xfrm>
          <a:prstGeom prst="rect">
            <a:avLst/>
          </a:prstGeom>
          <a:noFill/>
          <a:ln/>
        </p:spPr>
        <p:txBody>
          <a:bodyPr wrap="square" lIns="0" tIns="0" rIns="0" bIns="0" rtlCol="0" anchor="t"/>
          <a:lstStyle/>
          <a:p>
            <a:pPr indent="0" marL="0">
              <a:buNone/>
            </a:pPr>
            <a:r>
              <a:rPr lang="en-US" sz="1350" b="1" dirty="0">
                <a:solidFill>
                  <a:srgbClr val="16233F"/>
                </a:solidFill>
                <a:latin typeface="Calibri" pitchFamily="34" charset="0"/>
                <a:ea typeface="Calibri" pitchFamily="34" charset="-122"/>
                <a:cs typeface="Calibri" pitchFamily="34" charset="-120"/>
              </a:rPr>
              <a:t>Issue a CA-trusted certificate</a:t>
            </a:r>
            <a:endParaRPr lang="en-US" sz="1350" dirty="0"/>
          </a:p>
        </p:txBody>
      </p:sp>
      <p:sp>
        <p:nvSpPr>
          <p:cNvPr id="14" name="Text 12"/>
          <p:cNvSpPr txBox="1"/>
          <p:nvPr/>
        </p:nvSpPr>
        <p:spPr>
          <a:xfrm>
            <a:off x="7022592" y="2286000"/>
            <a:ext cx="4480560"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Before any use beyond the local lab</a:t>
            </a:r>
            <a:endParaRPr lang="en-US" sz="1150" dirty="0"/>
          </a:p>
        </p:txBody>
      </p:sp>
      <p:sp>
        <p:nvSpPr>
          <p:cNvPr id="15" name="Shape 13"/>
          <p:cNvSpPr/>
          <p:nvPr/>
        </p:nvSpPr>
        <p:spPr>
          <a:xfrm>
            <a:off x="548640" y="3218688"/>
            <a:ext cx="544068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6" name="Shape 14"/>
          <p:cNvSpPr/>
          <p:nvPr/>
        </p:nvSpPr>
        <p:spPr>
          <a:xfrm>
            <a:off x="713232" y="3383280"/>
            <a:ext cx="502920" cy="502920"/>
          </a:xfrm>
          <a:prstGeom prst="roundRect">
            <a:avLst>
              <a:gd name="adj" fmla="val 50909"/>
            </a:avLst>
          </a:prstGeom>
          <a:solidFill>
            <a:srgbClr val="0F6E56"/>
          </a:solidFill>
          <a:ln/>
        </p:spPr>
      </p:sp>
      <p:sp>
        <p:nvSpPr>
          <p:cNvPr id="17" name="Text 15"/>
          <p:cNvSpPr txBox="1"/>
          <p:nvPr/>
        </p:nvSpPr>
        <p:spPr>
          <a:xfrm>
            <a:off x="713232" y="33832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353312" y="3364992"/>
            <a:ext cx="4480560" cy="548640"/>
          </a:xfrm>
          <a:prstGeom prst="rect">
            <a:avLst/>
          </a:prstGeom>
          <a:noFill/>
          <a:ln/>
        </p:spPr>
        <p:txBody>
          <a:bodyPr wrap="square" lIns="0" tIns="0" rIns="0" bIns="0" rtlCol="0" anchor="t"/>
          <a:lstStyle/>
          <a:p>
            <a:pPr indent="0" marL="0">
              <a:buNone/>
            </a:pPr>
            <a:r>
              <a:rPr lang="en-US" sz="1350" b="1" dirty="0">
                <a:solidFill>
                  <a:srgbClr val="16233F"/>
                </a:solidFill>
                <a:latin typeface="Calibri" pitchFamily="34" charset="0"/>
                <a:ea typeface="Calibri" pitchFamily="34" charset="-122"/>
                <a:cs typeface="Calibri" pitchFamily="34" charset="-120"/>
              </a:rPr>
              <a:t>Add rate-limiting on failed logins</a:t>
            </a:r>
            <a:endParaRPr lang="en-US" sz="1350" dirty="0"/>
          </a:p>
        </p:txBody>
      </p:sp>
      <p:sp>
        <p:nvSpPr>
          <p:cNvPr id="19" name="Text 17"/>
          <p:cNvSpPr txBox="1"/>
          <p:nvPr/>
        </p:nvSpPr>
        <p:spPr>
          <a:xfrm>
            <a:off x="1353312" y="3904488"/>
            <a:ext cx="4480560"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No lockout mechanism was evidenced</a:t>
            </a:r>
            <a:endParaRPr lang="en-US" sz="1150" dirty="0"/>
          </a:p>
        </p:txBody>
      </p:sp>
      <p:sp>
        <p:nvSpPr>
          <p:cNvPr id="20" name="Shape 18"/>
          <p:cNvSpPr/>
          <p:nvPr/>
        </p:nvSpPr>
        <p:spPr>
          <a:xfrm>
            <a:off x="6217920" y="3218688"/>
            <a:ext cx="544068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21" name="Shape 19"/>
          <p:cNvSpPr/>
          <p:nvPr/>
        </p:nvSpPr>
        <p:spPr>
          <a:xfrm>
            <a:off x="6382512" y="3383280"/>
            <a:ext cx="502920" cy="502920"/>
          </a:xfrm>
          <a:prstGeom prst="roundRect">
            <a:avLst>
              <a:gd name="adj" fmla="val 50909"/>
            </a:avLst>
          </a:prstGeom>
          <a:solidFill>
            <a:srgbClr val="0F6E56"/>
          </a:solidFill>
          <a:ln/>
        </p:spPr>
      </p:sp>
      <p:sp>
        <p:nvSpPr>
          <p:cNvPr id="22" name="Text 20"/>
          <p:cNvSpPr txBox="1"/>
          <p:nvPr/>
        </p:nvSpPr>
        <p:spPr>
          <a:xfrm>
            <a:off x="6382512" y="33832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txBox="1"/>
          <p:nvPr/>
        </p:nvSpPr>
        <p:spPr>
          <a:xfrm>
            <a:off x="7022592" y="3364992"/>
            <a:ext cx="4480560" cy="548640"/>
          </a:xfrm>
          <a:prstGeom prst="rect">
            <a:avLst/>
          </a:prstGeom>
          <a:noFill/>
          <a:ln/>
        </p:spPr>
        <p:txBody>
          <a:bodyPr wrap="square" lIns="0" tIns="0" rIns="0" bIns="0" rtlCol="0" anchor="t"/>
          <a:lstStyle/>
          <a:p>
            <a:pPr indent="0" marL="0">
              <a:buNone/>
            </a:pPr>
            <a:r>
              <a:rPr lang="en-US" sz="1350" b="1" dirty="0">
                <a:solidFill>
                  <a:srgbClr val="16233F"/>
                </a:solidFill>
                <a:latin typeface="Calibri" pitchFamily="34" charset="0"/>
                <a:ea typeface="Calibri" pitchFamily="34" charset="-122"/>
                <a:cs typeface="Calibri" pitchFamily="34" charset="-120"/>
              </a:rPr>
              <a:t>Fix rsa_key.pem to 600 consistently</a:t>
            </a:r>
            <a:endParaRPr lang="en-US" sz="1350" dirty="0"/>
          </a:p>
        </p:txBody>
      </p:sp>
      <p:sp>
        <p:nvSpPr>
          <p:cNvPr id="24" name="Text 22"/>
          <p:cNvSpPr txBox="1"/>
          <p:nvPr/>
        </p:nvSpPr>
        <p:spPr>
          <a:xfrm>
            <a:off x="7022592" y="3904488"/>
            <a:ext cx="4480560"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Resolve the observed permission inconsistency</a:t>
            </a:r>
            <a:endParaRPr lang="en-US" sz="1150" dirty="0"/>
          </a:p>
        </p:txBody>
      </p:sp>
      <p:sp>
        <p:nvSpPr>
          <p:cNvPr id="25" name="Shape 23"/>
          <p:cNvSpPr/>
          <p:nvPr/>
        </p:nvSpPr>
        <p:spPr>
          <a:xfrm>
            <a:off x="548640" y="4837176"/>
            <a:ext cx="544068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26" name="Shape 24"/>
          <p:cNvSpPr/>
          <p:nvPr/>
        </p:nvSpPr>
        <p:spPr>
          <a:xfrm>
            <a:off x="713232" y="5001768"/>
            <a:ext cx="502920" cy="502920"/>
          </a:xfrm>
          <a:prstGeom prst="roundRect">
            <a:avLst>
              <a:gd name="adj" fmla="val 50909"/>
            </a:avLst>
          </a:prstGeom>
          <a:solidFill>
            <a:srgbClr val="0F6E56"/>
          </a:solidFill>
          <a:ln/>
        </p:spPr>
      </p:sp>
      <p:sp>
        <p:nvSpPr>
          <p:cNvPr id="27" name="Text 25"/>
          <p:cNvSpPr txBox="1"/>
          <p:nvPr/>
        </p:nvSpPr>
        <p:spPr>
          <a:xfrm>
            <a:off x="713232" y="5001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txBox="1"/>
          <p:nvPr/>
        </p:nvSpPr>
        <p:spPr>
          <a:xfrm>
            <a:off x="1353312" y="4983480"/>
            <a:ext cx="4480560" cy="548640"/>
          </a:xfrm>
          <a:prstGeom prst="rect">
            <a:avLst/>
          </a:prstGeom>
          <a:noFill/>
          <a:ln/>
        </p:spPr>
        <p:txBody>
          <a:bodyPr wrap="square" lIns="0" tIns="0" rIns="0" bIns="0" rtlCol="0" anchor="t"/>
          <a:lstStyle/>
          <a:p>
            <a:pPr indent="0" marL="0">
              <a:buNone/>
            </a:pPr>
            <a:r>
              <a:rPr lang="en-US" sz="1350" b="1" dirty="0">
                <a:solidFill>
                  <a:srgbClr val="16233F"/>
                </a:solidFill>
                <a:latin typeface="Calibri" pitchFamily="34" charset="0"/>
                <a:ea typeface="Calibri" pitchFamily="34" charset="-122"/>
                <a:cs typeface="Calibri" pitchFamily="34" charset="-120"/>
              </a:rPr>
              <a:t>Disable open sign-ups</a:t>
            </a:r>
            <a:endParaRPr lang="en-US" sz="1350" dirty="0"/>
          </a:p>
        </p:txBody>
      </p:sp>
      <p:sp>
        <p:nvSpPr>
          <p:cNvPr id="29" name="Text 27"/>
          <p:cNvSpPr txBox="1"/>
          <p:nvPr/>
        </p:nvSpPr>
        <p:spPr>
          <a:xfrm>
            <a:off x="1353312" y="5522976"/>
            <a:ext cx="4480560"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Set SIGNUPS_ALLOWED=false once accounts exist</a:t>
            </a:r>
            <a:endParaRPr lang="en-US" sz="1150" dirty="0"/>
          </a:p>
        </p:txBody>
      </p:sp>
      <p:sp>
        <p:nvSpPr>
          <p:cNvPr id="30" name="Shape 28"/>
          <p:cNvSpPr/>
          <p:nvPr/>
        </p:nvSpPr>
        <p:spPr>
          <a:xfrm>
            <a:off x="6217920" y="4837176"/>
            <a:ext cx="5440680" cy="1417320"/>
          </a:xfrm>
          <a:prstGeom prst="roundRect">
            <a:avLst>
              <a:gd name="adj" fmla="val 4516"/>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31" name="Shape 29"/>
          <p:cNvSpPr/>
          <p:nvPr/>
        </p:nvSpPr>
        <p:spPr>
          <a:xfrm>
            <a:off x="6382512" y="5001768"/>
            <a:ext cx="502920" cy="502920"/>
          </a:xfrm>
          <a:prstGeom prst="roundRect">
            <a:avLst>
              <a:gd name="adj" fmla="val 50909"/>
            </a:avLst>
          </a:prstGeom>
          <a:solidFill>
            <a:srgbClr val="0F6E56"/>
          </a:solidFill>
          <a:ln/>
        </p:spPr>
      </p:sp>
      <p:sp>
        <p:nvSpPr>
          <p:cNvPr id="32" name="Text 30"/>
          <p:cNvSpPr txBox="1"/>
          <p:nvPr/>
        </p:nvSpPr>
        <p:spPr>
          <a:xfrm>
            <a:off x="6382512" y="5001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1"/>
          <p:cNvSpPr txBox="1"/>
          <p:nvPr/>
        </p:nvSpPr>
        <p:spPr>
          <a:xfrm>
            <a:off x="7022592" y="4983480"/>
            <a:ext cx="4480560" cy="548640"/>
          </a:xfrm>
          <a:prstGeom prst="rect">
            <a:avLst/>
          </a:prstGeom>
          <a:noFill/>
          <a:ln/>
        </p:spPr>
        <p:txBody>
          <a:bodyPr wrap="square" lIns="0" tIns="0" rIns="0" bIns="0" rtlCol="0" anchor="t"/>
          <a:lstStyle/>
          <a:p>
            <a:pPr indent="0" marL="0">
              <a:buNone/>
            </a:pPr>
            <a:r>
              <a:rPr lang="en-US" sz="1350" b="1" dirty="0">
                <a:solidFill>
                  <a:srgbClr val="16233F"/>
                </a:solidFill>
                <a:latin typeface="Calibri" pitchFamily="34" charset="0"/>
                <a:ea typeface="Calibri" pitchFamily="34" charset="-122"/>
                <a:cs typeface="Calibri" pitchFamily="34" charset="-120"/>
              </a:rPr>
              <a:t>Establish backup rotation + off-host copy</a:t>
            </a:r>
            <a:endParaRPr lang="en-US" sz="1350" dirty="0"/>
          </a:p>
        </p:txBody>
      </p:sp>
      <p:sp>
        <p:nvSpPr>
          <p:cNvPr id="34" name="Text 32"/>
          <p:cNvSpPr txBox="1"/>
          <p:nvPr/>
        </p:nvSpPr>
        <p:spPr>
          <a:xfrm>
            <a:off x="7022592" y="5522976"/>
            <a:ext cx="4480560"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Backups currently live alongside the deployment</a:t>
            </a:r>
            <a:endParaRPr lang="en-US" sz="1150" dirty="0"/>
          </a:p>
        </p:txBody>
      </p:sp>
      <p:sp>
        <p:nvSpPr>
          <p:cNvPr id="35" name="Text 3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36" name="Text 34"/>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KEY OUTCOMES</a:t>
            </a:r>
            <a:endParaRPr lang="en-US" sz="1200" dirty="0"/>
          </a:p>
        </p:txBody>
      </p:sp>
      <p:sp>
        <p:nvSpPr>
          <p:cNvPr id="3" name="Text 1"/>
          <p:cNvSpPr txBox="1"/>
          <p:nvPr/>
        </p:nvSpPr>
        <p:spPr>
          <a:xfrm>
            <a:off x="548640" y="621792"/>
            <a:ext cx="11064240" cy="658368"/>
          </a:xfrm>
          <a:prstGeom prst="rect">
            <a:avLst/>
          </a:prstGeom>
          <a:noFill/>
          <a:ln/>
        </p:spPr>
        <p:txBody>
          <a:bodyPr wrap="square" lIns="0" tIns="0" rIns="0" bIns="0"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What this project actually demonstrated</a:t>
            </a:r>
            <a:endParaRPr lang="en-US" sz="2800" dirty="0"/>
          </a:p>
        </p:txBody>
      </p:sp>
      <p:sp>
        <p:nvSpPr>
          <p:cNvPr id="4" name="Shape 2"/>
          <p:cNvSpPr/>
          <p:nvPr/>
        </p:nvSpPr>
        <p:spPr>
          <a:xfrm>
            <a:off x="548640" y="1353312"/>
            <a:ext cx="11091672" cy="0"/>
          </a:xfrm>
          <a:prstGeom prst="line">
            <a:avLst/>
          </a:prstGeom>
          <a:noFill/>
          <a:ln w="12700">
            <a:solidFill>
              <a:srgbClr val="D8DEE7"/>
            </a:solidFill>
            <a:prstDash val="solid"/>
          </a:ln>
        </p:spPr>
      </p:sp>
      <p:sp>
        <p:nvSpPr>
          <p:cNvPr id="5" name="Shape 3"/>
          <p:cNvSpPr/>
          <p:nvPr/>
        </p:nvSpPr>
        <p:spPr>
          <a:xfrm>
            <a:off x="548640" y="1691640"/>
            <a:ext cx="2651760" cy="1737360"/>
          </a:xfrm>
          <a:prstGeom prst="roundRect">
            <a:avLst>
              <a:gd name="adj" fmla="val 4211"/>
            </a:avLst>
          </a:prstGeom>
          <a:solidFill>
            <a:srgbClr val="FFFFFF"/>
          </a:solidFill>
          <a:ln w="12700">
            <a:solidFill>
              <a:srgbClr val="D8DEE7"/>
            </a:solidFill>
            <a:prstDash val="solid"/>
          </a:ln>
          <a:effectLst>
            <a:outerShdw sx="100000" sy="100000" kx="0" ky="0" algn="bl" rotWithShape="0" blurRad="76200" dist="25400" dir="5400000">
              <a:srgbClr val="1B2A4A">
                <a:alpha val="12000"/>
              </a:srgbClr>
            </a:outerShdw>
          </a:effectLst>
        </p:spPr>
      </p:sp>
      <p:sp>
        <p:nvSpPr>
          <p:cNvPr id="6" name="Text 4"/>
          <p:cNvSpPr txBox="1"/>
          <p:nvPr/>
        </p:nvSpPr>
        <p:spPr>
          <a:xfrm>
            <a:off x="548640" y="1801368"/>
            <a:ext cx="2651760" cy="955548"/>
          </a:xfrm>
          <a:prstGeom prst="rect">
            <a:avLst/>
          </a:prstGeom>
          <a:noFill/>
          <a:ln/>
        </p:spPr>
        <p:txBody>
          <a:bodyPr wrap="square" lIns="0" tIns="0" rIns="0" bIns="0" rtlCol="0" anchor="b"/>
          <a:lstStyle/>
          <a:p>
            <a:pPr algn="ctr" indent="0" marL="0">
              <a:buNone/>
            </a:pPr>
            <a:r>
              <a:rPr lang="en-US" sz="4000" b="1" dirty="0">
                <a:solidFill>
                  <a:srgbClr val="0F6E56"/>
                </a:solidFill>
                <a:latin typeface="Cambria" pitchFamily="34" charset="0"/>
                <a:ea typeface="Cambria" pitchFamily="34" charset="-122"/>
                <a:cs typeface="Cambria" pitchFamily="34" charset="-120"/>
              </a:rPr>
              <a:t>20</a:t>
            </a:r>
            <a:endParaRPr lang="en-US" sz="4000" dirty="0"/>
          </a:p>
        </p:txBody>
      </p:sp>
      <p:sp>
        <p:nvSpPr>
          <p:cNvPr id="7" name="Text 5"/>
          <p:cNvSpPr txBox="1"/>
          <p:nvPr/>
        </p:nvSpPr>
        <p:spPr>
          <a:xfrm>
            <a:off x="685800" y="2699309"/>
            <a:ext cx="2377440" cy="660197"/>
          </a:xfrm>
          <a:prstGeom prst="rect">
            <a:avLst/>
          </a:prstGeom>
          <a:noFill/>
          <a:ln/>
        </p:spPr>
        <p:txBody>
          <a:bodyPr wrap="square" lIns="0" tIns="0" rIns="0" bIns="0" rtlCol="0" anchor="t"/>
          <a:lstStyle/>
          <a:p>
            <a:pPr algn="ctr" indent="0" marL="0">
              <a:buNone/>
            </a:pPr>
            <a:r>
              <a:rPr lang="en-US" sz="1150" dirty="0">
                <a:solidFill>
                  <a:srgbClr val="5B6B82"/>
                </a:solidFill>
                <a:latin typeface="Calibri" pitchFamily="34" charset="0"/>
                <a:ea typeface="Calibri" pitchFamily="34" charset="-122"/>
                <a:cs typeface="Calibri" pitchFamily="34" charset="-120"/>
              </a:rPr>
              <a:t>Direct security tests performed</a:t>
            </a:r>
            <a:endParaRPr lang="en-US" sz="1150" dirty="0"/>
          </a:p>
        </p:txBody>
      </p:sp>
      <p:sp>
        <p:nvSpPr>
          <p:cNvPr id="8" name="Shape 6"/>
          <p:cNvSpPr/>
          <p:nvPr/>
        </p:nvSpPr>
        <p:spPr>
          <a:xfrm>
            <a:off x="3337560" y="1691640"/>
            <a:ext cx="2651760" cy="1737360"/>
          </a:xfrm>
          <a:prstGeom prst="roundRect">
            <a:avLst>
              <a:gd name="adj" fmla="val 4211"/>
            </a:avLst>
          </a:prstGeom>
          <a:solidFill>
            <a:srgbClr val="FFFFFF"/>
          </a:solidFill>
          <a:ln w="12700">
            <a:solidFill>
              <a:srgbClr val="D8DEE7"/>
            </a:solidFill>
            <a:prstDash val="solid"/>
          </a:ln>
          <a:effectLst>
            <a:outerShdw sx="100000" sy="100000" kx="0" ky="0" algn="bl" rotWithShape="0" blurRad="76200" dist="25400" dir="5400000">
              <a:srgbClr val="1B2A4A">
                <a:alpha val="12000"/>
              </a:srgbClr>
            </a:outerShdw>
          </a:effectLst>
        </p:spPr>
      </p:sp>
      <p:sp>
        <p:nvSpPr>
          <p:cNvPr id="9" name="Text 7"/>
          <p:cNvSpPr txBox="1"/>
          <p:nvPr/>
        </p:nvSpPr>
        <p:spPr>
          <a:xfrm>
            <a:off x="3337560" y="1801368"/>
            <a:ext cx="2651760" cy="955548"/>
          </a:xfrm>
          <a:prstGeom prst="rect">
            <a:avLst/>
          </a:prstGeom>
          <a:noFill/>
          <a:ln/>
        </p:spPr>
        <p:txBody>
          <a:bodyPr wrap="square" lIns="0" tIns="0" rIns="0" bIns="0" rtlCol="0" anchor="b"/>
          <a:lstStyle/>
          <a:p>
            <a:pPr algn="ctr" indent="0" marL="0">
              <a:buNone/>
            </a:pPr>
            <a:r>
              <a:rPr lang="en-US" sz="4000" b="1" dirty="0">
                <a:solidFill>
                  <a:srgbClr val="0F6E56"/>
                </a:solidFill>
                <a:latin typeface="Cambria" pitchFamily="34" charset="0"/>
                <a:ea typeface="Cambria" pitchFamily="34" charset="-122"/>
                <a:cs typeface="Cambria" pitchFamily="34" charset="-120"/>
              </a:rPr>
              <a:t>15</a:t>
            </a:r>
            <a:endParaRPr lang="en-US" sz="4000" dirty="0"/>
          </a:p>
        </p:txBody>
      </p:sp>
      <p:sp>
        <p:nvSpPr>
          <p:cNvPr id="10" name="Text 8"/>
          <p:cNvSpPr txBox="1"/>
          <p:nvPr/>
        </p:nvSpPr>
        <p:spPr>
          <a:xfrm>
            <a:off x="3474720" y="2699309"/>
            <a:ext cx="2377440" cy="660197"/>
          </a:xfrm>
          <a:prstGeom prst="rect">
            <a:avLst/>
          </a:prstGeom>
          <a:noFill/>
          <a:ln/>
        </p:spPr>
        <p:txBody>
          <a:bodyPr wrap="square" lIns="0" tIns="0" rIns="0" bIns="0" rtlCol="0" anchor="t"/>
          <a:lstStyle/>
          <a:p>
            <a:pPr algn="ctr" indent="0" marL="0">
              <a:buNone/>
            </a:pPr>
            <a:r>
              <a:rPr lang="en-US" sz="1150" dirty="0">
                <a:solidFill>
                  <a:srgbClr val="5B6B82"/>
                </a:solidFill>
                <a:latin typeface="Calibri" pitchFamily="34" charset="0"/>
                <a:ea typeface="Calibri" pitchFamily="34" charset="-122"/>
                <a:cs typeface="Calibri" pitchFamily="34" charset="-120"/>
              </a:rPr>
              <a:t>Fully verified, clean-pass controls</a:t>
            </a:r>
            <a:endParaRPr lang="en-US" sz="1150" dirty="0"/>
          </a:p>
        </p:txBody>
      </p:sp>
      <p:sp>
        <p:nvSpPr>
          <p:cNvPr id="11" name="Shape 9"/>
          <p:cNvSpPr/>
          <p:nvPr/>
        </p:nvSpPr>
        <p:spPr>
          <a:xfrm>
            <a:off x="6126480" y="1691640"/>
            <a:ext cx="2651760" cy="1737360"/>
          </a:xfrm>
          <a:prstGeom prst="roundRect">
            <a:avLst>
              <a:gd name="adj" fmla="val 4211"/>
            </a:avLst>
          </a:prstGeom>
          <a:solidFill>
            <a:srgbClr val="FFFFFF"/>
          </a:solidFill>
          <a:ln w="12700">
            <a:solidFill>
              <a:srgbClr val="D8DEE7"/>
            </a:solidFill>
            <a:prstDash val="solid"/>
          </a:ln>
          <a:effectLst>
            <a:outerShdw sx="100000" sy="100000" kx="0" ky="0" algn="bl" rotWithShape="0" blurRad="76200" dist="25400" dir="5400000">
              <a:srgbClr val="1B2A4A">
                <a:alpha val="12000"/>
              </a:srgbClr>
            </a:outerShdw>
          </a:effectLst>
        </p:spPr>
      </p:sp>
      <p:sp>
        <p:nvSpPr>
          <p:cNvPr id="12" name="Text 10"/>
          <p:cNvSpPr txBox="1"/>
          <p:nvPr/>
        </p:nvSpPr>
        <p:spPr>
          <a:xfrm>
            <a:off x="6126480" y="1801368"/>
            <a:ext cx="2651760" cy="955548"/>
          </a:xfrm>
          <a:prstGeom prst="rect">
            <a:avLst/>
          </a:prstGeom>
          <a:noFill/>
          <a:ln/>
        </p:spPr>
        <p:txBody>
          <a:bodyPr wrap="square" lIns="0" tIns="0" rIns="0" bIns="0" rtlCol="0" anchor="b"/>
          <a:lstStyle/>
          <a:p>
            <a:pPr algn="ctr" indent="0" marL="0">
              <a:buNone/>
            </a:pPr>
            <a:r>
              <a:rPr lang="en-US" sz="4000" b="1" dirty="0">
                <a:solidFill>
                  <a:srgbClr val="0F6E56"/>
                </a:solidFill>
                <a:latin typeface="Cambria" pitchFamily="34" charset="0"/>
                <a:ea typeface="Cambria" pitchFamily="34" charset="-122"/>
                <a:cs typeface="Cambria" pitchFamily="34" charset="-120"/>
              </a:rPr>
              <a:t>2</a:t>
            </a:r>
            <a:endParaRPr lang="en-US" sz="4000" dirty="0"/>
          </a:p>
        </p:txBody>
      </p:sp>
      <p:sp>
        <p:nvSpPr>
          <p:cNvPr id="13" name="Text 11"/>
          <p:cNvSpPr txBox="1"/>
          <p:nvPr/>
        </p:nvSpPr>
        <p:spPr>
          <a:xfrm>
            <a:off x="6263640" y="2699309"/>
            <a:ext cx="2377440" cy="660197"/>
          </a:xfrm>
          <a:prstGeom prst="rect">
            <a:avLst/>
          </a:prstGeom>
          <a:noFill/>
          <a:ln/>
        </p:spPr>
        <p:txBody>
          <a:bodyPr wrap="square" lIns="0" tIns="0" rIns="0" bIns="0" rtlCol="0" anchor="t"/>
          <a:lstStyle/>
          <a:p>
            <a:pPr algn="ctr" indent="0" marL="0">
              <a:buNone/>
            </a:pPr>
            <a:r>
              <a:rPr lang="en-US" sz="1150" dirty="0">
                <a:solidFill>
                  <a:srgbClr val="5B6B82"/>
                </a:solidFill>
                <a:latin typeface="Calibri" pitchFamily="34" charset="0"/>
                <a:ea typeface="Calibri" pitchFamily="34" charset="-122"/>
                <a:cs typeface="Calibri" pitchFamily="34" charset="-120"/>
              </a:rPr>
              <a:t>Open findings honestly disclosed</a:t>
            </a:r>
            <a:endParaRPr lang="en-US" sz="1150" dirty="0"/>
          </a:p>
        </p:txBody>
      </p:sp>
      <p:sp>
        <p:nvSpPr>
          <p:cNvPr id="14" name="Shape 12"/>
          <p:cNvSpPr/>
          <p:nvPr/>
        </p:nvSpPr>
        <p:spPr>
          <a:xfrm>
            <a:off x="8915400" y="1691640"/>
            <a:ext cx="2651760" cy="1737360"/>
          </a:xfrm>
          <a:prstGeom prst="roundRect">
            <a:avLst>
              <a:gd name="adj" fmla="val 4211"/>
            </a:avLst>
          </a:prstGeom>
          <a:solidFill>
            <a:srgbClr val="FFFFFF"/>
          </a:solidFill>
          <a:ln w="12700">
            <a:solidFill>
              <a:srgbClr val="D8DEE7"/>
            </a:solidFill>
            <a:prstDash val="solid"/>
          </a:ln>
          <a:effectLst>
            <a:outerShdw sx="100000" sy="100000" kx="0" ky="0" algn="bl" rotWithShape="0" blurRad="76200" dist="25400" dir="5400000">
              <a:srgbClr val="1B2A4A">
                <a:alpha val="12000"/>
              </a:srgbClr>
            </a:outerShdw>
          </a:effectLst>
        </p:spPr>
      </p:sp>
      <p:sp>
        <p:nvSpPr>
          <p:cNvPr id="15" name="Text 13"/>
          <p:cNvSpPr txBox="1"/>
          <p:nvPr/>
        </p:nvSpPr>
        <p:spPr>
          <a:xfrm>
            <a:off x="8915400" y="1801368"/>
            <a:ext cx="2651760" cy="955548"/>
          </a:xfrm>
          <a:prstGeom prst="rect">
            <a:avLst/>
          </a:prstGeom>
          <a:noFill/>
          <a:ln/>
        </p:spPr>
        <p:txBody>
          <a:bodyPr wrap="square" lIns="0" tIns="0" rIns="0" bIns="0" rtlCol="0" anchor="b"/>
          <a:lstStyle/>
          <a:p>
            <a:pPr algn="ctr" indent="0" marL="0">
              <a:buNone/>
            </a:pPr>
            <a:r>
              <a:rPr lang="en-US" sz="4000" b="1" dirty="0">
                <a:solidFill>
                  <a:srgbClr val="0F6E56"/>
                </a:solidFill>
                <a:latin typeface="Cambria" pitchFamily="34" charset="0"/>
                <a:ea typeface="Cambria" pitchFamily="34" charset="-122"/>
                <a:cs typeface="Cambria" pitchFamily="34" charset="-120"/>
              </a:rPr>
              <a:t>0</a:t>
            </a:r>
            <a:endParaRPr lang="en-US" sz="4000" dirty="0"/>
          </a:p>
        </p:txBody>
      </p:sp>
      <p:sp>
        <p:nvSpPr>
          <p:cNvPr id="16" name="Text 14"/>
          <p:cNvSpPr txBox="1"/>
          <p:nvPr/>
        </p:nvSpPr>
        <p:spPr>
          <a:xfrm>
            <a:off x="9052560" y="2699309"/>
            <a:ext cx="2377440" cy="660197"/>
          </a:xfrm>
          <a:prstGeom prst="rect">
            <a:avLst/>
          </a:prstGeom>
          <a:noFill/>
          <a:ln/>
        </p:spPr>
        <p:txBody>
          <a:bodyPr wrap="square" lIns="0" tIns="0" rIns="0" bIns="0" rtlCol="0" anchor="t"/>
          <a:lstStyle/>
          <a:p>
            <a:pPr algn="ctr" indent="0" marL="0">
              <a:buNone/>
            </a:pPr>
            <a:r>
              <a:rPr lang="en-US" sz="1150" dirty="0">
                <a:solidFill>
                  <a:srgbClr val="5B6B82"/>
                </a:solidFill>
                <a:latin typeface="Calibri" pitchFamily="34" charset="0"/>
                <a:ea typeface="Calibri" pitchFamily="34" charset="-122"/>
                <a:cs typeface="Calibri" pitchFamily="34" charset="-120"/>
              </a:rPr>
              <a:t>Fabricated or assumed results</a:t>
            </a:r>
            <a:endParaRPr lang="en-US" sz="1150" dirty="0"/>
          </a:p>
        </p:txBody>
      </p:sp>
      <p:sp>
        <p:nvSpPr>
          <p:cNvPr id="17" name="Shape 15"/>
          <p:cNvSpPr/>
          <p:nvPr/>
        </p:nvSpPr>
        <p:spPr>
          <a:xfrm>
            <a:off x="548640" y="3703320"/>
            <a:ext cx="11109960" cy="2514600"/>
          </a:xfrm>
          <a:prstGeom prst="roundRect">
            <a:avLst>
              <a:gd name="adj" fmla="val 2545"/>
            </a:avLst>
          </a:prstGeom>
          <a:solidFill>
            <a:srgbClr val="FFFFFF"/>
          </a:solidFill>
          <a:ln w="12700">
            <a:solidFill>
              <a:srgbClr val="D8DEE7"/>
            </a:solidFill>
            <a:prstDash val="solid"/>
          </a:ln>
          <a:effectLst>
            <a:outerShdw sx="100000" sy="100000" kx="0" ky="0" algn="bl" rotWithShape="0" blurRad="76200" dist="25400" dir="5400000">
              <a:srgbClr val="1B2A4A">
                <a:alpha val="10000"/>
              </a:srgbClr>
            </a:outerShdw>
          </a:effectLst>
        </p:spPr>
      </p:sp>
      <p:sp>
        <p:nvSpPr>
          <p:cNvPr id="18" name="Text 16"/>
          <p:cNvSpPr txBox="1"/>
          <p:nvPr/>
        </p:nvSpPr>
        <p:spPr>
          <a:xfrm>
            <a:off x="749808" y="3867912"/>
            <a:ext cx="10707624" cy="329184"/>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Bottom line</a:t>
            </a:r>
            <a:endParaRPr lang="en-US" sz="1400" dirty="0"/>
          </a:p>
        </p:txBody>
      </p:sp>
      <p:sp>
        <p:nvSpPr>
          <p:cNvPr id="19" name="Text 17"/>
          <p:cNvSpPr txBox="1"/>
          <p:nvPr/>
        </p:nvSpPr>
        <p:spPr>
          <a:xfrm>
            <a:off x="749808" y="4251960"/>
            <a:ext cx="10707624" cy="1828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Core controls — encryption, MFA, RBAC, encrypted/restore-tested backups — were configured and independently verified, not just claimed</a:t>
            </a:r>
            <a:endParaRPr lang="en-US" sz="1400" dirty="0"/>
          </a:p>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Every gap that remains (admin-token hashing, key permissions, rate-limiting) is identified precisely enough to close before production use</a:t>
            </a:r>
            <a:endParaRPr lang="en-US" sz="1400" dirty="0"/>
          </a:p>
          <a:p>
            <a:pPr marL="177800" indent="-177800">
              <a:spcAft>
                <a:spcPts val="600"/>
              </a:spcAft>
              <a:buSzPct val="100000"/>
              <a:buChar char="•"/>
            </a:pPr>
            <a:r>
              <a:rPr lang="en-US" sz="1400" dirty="0">
                <a:solidFill>
                  <a:srgbClr val="16233F"/>
                </a:solidFill>
                <a:latin typeface="Calibri" pitchFamily="34" charset="0"/>
                <a:ea typeface="Calibri" pitchFamily="34" charset="-122"/>
                <a:cs typeface="Calibri" pitchFamily="34" charset="-120"/>
              </a:rPr>
              <a:t>The project is best read as a working laboratory proof of concept, not a production-ready deployment</a:t>
            </a:r>
            <a:endParaRPr lang="en-US" sz="1400" dirty="0"/>
          </a:p>
        </p:txBody>
      </p:sp>
      <p:sp>
        <p:nvSpPr>
          <p:cNvPr id="20"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21" name="Text 19"/>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526"/>
        </a:solidFill>
      </p:bgPr>
    </p:bg>
    <p:spTree>
      <p:nvGrpSpPr>
        <p:cNvPr id="1" name=""/>
        <p:cNvGrpSpPr/>
        <p:nvPr/>
      </p:nvGrpSpPr>
      <p:grpSpPr>
        <a:xfrm>
          <a:off x="0" y="0"/>
          <a:ext cx="0" cy="0"/>
          <a:chOff x="0" y="0"/>
          <a:chExt cx="0" cy="0"/>
        </a:xfrm>
      </p:grpSpPr>
      <p:sp>
        <p:nvSpPr>
          <p:cNvPr id="2" name="Shape 0"/>
          <p:cNvSpPr/>
          <p:nvPr/>
        </p:nvSpPr>
        <p:spPr>
          <a:xfrm>
            <a:off x="0" y="0"/>
            <a:ext cx="2926080" cy="6858000"/>
          </a:xfrm>
          <a:prstGeom prst="rect">
            <a:avLst/>
          </a:prstGeom>
          <a:solidFill>
            <a:srgbClr val="132234"/>
          </a:solidFill>
          <a:ln/>
        </p:spPr>
      </p:sp>
      <p:sp>
        <p:nvSpPr>
          <p:cNvPr id="3" name="Shape 1"/>
          <p:cNvSpPr/>
          <p:nvPr/>
        </p:nvSpPr>
        <p:spPr>
          <a:xfrm>
            <a:off x="868680" y="2834640"/>
            <a:ext cx="1188720" cy="1188720"/>
          </a:xfrm>
          <a:prstGeom prst="roundRect">
            <a:avLst>
              <a:gd name="adj" fmla="val 9231"/>
            </a:avLst>
          </a:prstGeom>
          <a:solidFill>
            <a:srgbClr val="16304A"/>
          </a:solidFill>
          <a:ln w="19050">
            <a:solidFill>
              <a:srgbClr val="0F6E56"/>
            </a:solidFill>
            <a:prstDash val="solid"/>
          </a:ln>
        </p:spPr>
      </p:sp>
      <p:sp>
        <p:nvSpPr>
          <p:cNvPr id="4" name="Text 2"/>
          <p:cNvSpPr txBox="1"/>
          <p:nvPr/>
        </p:nvSpPr>
        <p:spPr>
          <a:xfrm>
            <a:off x="868680" y="2834640"/>
            <a:ext cx="1188720" cy="1188720"/>
          </a:xfrm>
          <a:prstGeom prst="rect">
            <a:avLst/>
          </a:prstGeom>
          <a:noFill/>
          <a:ln/>
        </p:spPr>
        <p:txBody>
          <a:bodyPr wrap="square" lIns="0" tIns="0" rIns="0" bIns="0" rtlCol="0" anchor="ctr"/>
          <a:lstStyle/>
          <a:p>
            <a:pPr algn="ctr" indent="0" marL="0">
              <a:buNone/>
            </a:pPr>
            <a:r>
              <a:rPr lang="en-US" sz="2400" b="1" dirty="0">
                <a:solidFill>
                  <a:srgbClr val="0F6E56"/>
                </a:solidFill>
                <a:latin typeface="Cambria" pitchFamily="34" charset="0"/>
                <a:ea typeface="Cambria" pitchFamily="34" charset="-122"/>
                <a:cs typeface="Cambria" pitchFamily="34" charset="-120"/>
              </a:rPr>
              <a:t>VW</a:t>
            </a:r>
            <a:endParaRPr lang="en-US" sz="2400" dirty="0"/>
          </a:p>
        </p:txBody>
      </p:sp>
      <p:sp>
        <p:nvSpPr>
          <p:cNvPr id="5" name="Text 3"/>
          <p:cNvSpPr txBox="1"/>
          <p:nvPr/>
        </p:nvSpPr>
        <p:spPr>
          <a:xfrm>
            <a:off x="3383280" y="777240"/>
            <a:ext cx="8229600" cy="365760"/>
          </a:xfrm>
          <a:prstGeom prst="rect">
            <a:avLst/>
          </a:prstGeom>
          <a:noFill/>
          <a:ln/>
        </p:spPr>
        <p:txBody>
          <a:bodyPr wrap="square" lIns="0" tIns="0" rIns="0" bIns="0" rtlCol="0" anchor="ctr"/>
          <a:lstStyle/>
          <a:p>
            <a:pPr indent="0" marL="0">
              <a:buNone/>
            </a:pPr>
            <a:r>
              <a:rPr lang="en-US" sz="1300" b="1" spc="200" kern="0" dirty="0">
                <a:solidFill>
                  <a:srgbClr val="0F6E56"/>
                </a:solidFill>
                <a:latin typeface="Calibri" pitchFamily="34" charset="0"/>
                <a:ea typeface="Calibri" pitchFamily="34" charset="-122"/>
                <a:cs typeface="Calibri" pitchFamily="34" charset="-120"/>
              </a:rPr>
              <a:t>CONCLUSION</a:t>
            </a:r>
            <a:endParaRPr lang="en-US" sz="1300" dirty="0"/>
          </a:p>
        </p:txBody>
      </p:sp>
      <p:sp>
        <p:nvSpPr>
          <p:cNvPr id="6" name="Text 4"/>
          <p:cNvSpPr txBox="1"/>
          <p:nvPr/>
        </p:nvSpPr>
        <p:spPr>
          <a:xfrm>
            <a:off x="3383280" y="1188720"/>
            <a:ext cx="8229600" cy="1188720"/>
          </a:xfrm>
          <a:prstGeom prst="rect">
            <a:avLst/>
          </a:prstGeom>
          <a:noFill/>
          <a:ln/>
        </p:spPr>
        <p:txBody>
          <a:bodyPr wrap="square" lIns="0" tIns="0" rIns="0" bIns="0" rtlCol="0" anchor="ctr"/>
          <a:lstStyle/>
          <a:p>
            <a:pPr indent="0" marL="0">
              <a:lnSpc>
                <a:spcPct val="110000"/>
              </a:lnSpc>
              <a:buNone/>
            </a:pPr>
            <a:r>
              <a:rPr lang="en-US" sz="2800" b="1" dirty="0">
                <a:solidFill>
                  <a:srgbClr val="FFFFFF"/>
                </a:solidFill>
                <a:latin typeface="Cambria" pitchFamily="34" charset="0"/>
                <a:ea typeface="Cambria" pitchFamily="34" charset="-122"/>
                <a:cs typeface="Cambria" pitchFamily="34" charset="-120"/>
              </a:rPr>
              <a:t>Configuration and verification are two different activities.</a:t>
            </a:r>
            <a:endParaRPr lang="en-US" sz="2800" dirty="0"/>
          </a:p>
        </p:txBody>
      </p:sp>
      <p:sp>
        <p:nvSpPr>
          <p:cNvPr id="7" name="Text 5"/>
          <p:cNvSpPr txBox="1"/>
          <p:nvPr/>
        </p:nvSpPr>
        <p:spPr>
          <a:xfrm>
            <a:off x="3383280" y="2514600"/>
            <a:ext cx="8229600" cy="1737360"/>
          </a:xfrm>
          <a:prstGeom prst="rect">
            <a:avLst/>
          </a:prstGeom>
          <a:noFill/>
          <a:ln/>
        </p:spPr>
        <p:txBody>
          <a:bodyPr wrap="square" lIns="0" tIns="0" rIns="0" bIns="0" rtlCol="0" anchor="ctr"/>
          <a:lstStyle/>
          <a:p>
            <a:pPr indent="0" marL="0">
              <a:lnSpc>
                <a:spcPct val="125000"/>
              </a:lnSpc>
              <a:buNone/>
            </a:pPr>
            <a:r>
              <a:rPr lang="en-US" sz="1500" dirty="0">
                <a:solidFill>
                  <a:srgbClr val="CADCFC"/>
                </a:solidFill>
                <a:latin typeface="Calibri" pitchFamily="34" charset="0"/>
                <a:ea typeface="Calibri" pitchFamily="34" charset="-122"/>
                <a:cs typeface="Calibri" pitchFamily="34" charset="-120"/>
              </a:rPr>
              <a:t>A security claim is only as strong as the test that was actually run to support it. This project treated that as the standard throughout: every control implemented was independently tested, every limitation encountered was disclosed rather than smoothed over, and every claim in the final report traces back to a specific command, its output, and an evidence file.</a:t>
            </a:r>
            <a:endParaRPr lang="en-US" sz="1500" dirty="0"/>
          </a:p>
        </p:txBody>
      </p:sp>
      <p:sp>
        <p:nvSpPr>
          <p:cNvPr id="8" name="Text 6"/>
          <p:cNvSpPr txBox="1"/>
          <p:nvPr/>
        </p:nvSpPr>
        <p:spPr>
          <a:xfrm>
            <a:off x="3383280" y="4480560"/>
            <a:ext cx="8229600" cy="1280160"/>
          </a:xfrm>
          <a:prstGeom prst="rect">
            <a:avLst/>
          </a:prstGeom>
          <a:noFill/>
          <a:ln/>
        </p:spPr>
        <p:txBody>
          <a:bodyPr wrap="square" lIns="0" tIns="0" rIns="0" bIns="0" rtlCol="0" anchor="ctr"/>
          <a:lstStyle/>
          <a:p>
            <a:pPr indent="0" marL="0">
              <a:lnSpc>
                <a:spcPct val="120000"/>
              </a:lnSpc>
              <a:buNone/>
            </a:pPr>
            <a:r>
              <a:rPr lang="en-US" sz="1400" i="1" dirty="0">
                <a:solidFill>
                  <a:srgbClr val="9FB2CC"/>
                </a:solidFill>
                <a:latin typeface="Calibri" pitchFamily="34" charset="0"/>
                <a:ea typeface="Calibri" pitchFamily="34" charset="-122"/>
                <a:cs typeface="Calibri" pitchFamily="34" charset="-120"/>
              </a:rPr>
              <a:t>Strong key derivation. Genuine field-level encryption. Enforced MFA. Working access control. Recoverable encrypted backups. And an honest account of what still needs to change before this leaves the lab.</a:t>
            </a:r>
            <a:endParaRPr lang="en-US" sz="1400" dirty="0"/>
          </a:p>
        </p:txBody>
      </p:sp>
      <p:sp>
        <p:nvSpPr>
          <p:cNvPr id="9" name="Text 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8FA3C4"/>
                </a:solidFill>
                <a:latin typeface="Calibri" pitchFamily="34" charset="0"/>
                <a:ea typeface="Calibri" pitchFamily="34" charset="-122"/>
                <a:cs typeface="Calibri" pitchFamily="34" charset="-120"/>
              </a:rPr>
              <a:t>Secure Password Manager Project — Vaultwarden Security Implementation</a:t>
            </a:r>
            <a:endParaRPr lang="en-US" sz="950" dirty="0"/>
          </a:p>
        </p:txBody>
      </p:sp>
      <p:sp>
        <p:nvSpPr>
          <p:cNvPr id="10" name="Text 8"/>
          <p:cNvSpPr txBox="1"/>
          <p:nvPr/>
        </p:nvSpPr>
        <p:spPr>
          <a:xfrm>
            <a:off x="11430000" y="6473952"/>
            <a:ext cx="54864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526"/>
        </a:solidFill>
      </p:bgPr>
    </p:bg>
    <p:spTree>
      <p:nvGrpSpPr>
        <p:cNvPr id="1" name=""/>
        <p:cNvGrpSpPr/>
        <p:nvPr/>
      </p:nvGrpSpPr>
      <p:grpSpPr>
        <a:xfrm>
          <a:off x="0" y="0"/>
          <a:ext cx="0" cy="0"/>
          <a:chOff x="0" y="0"/>
          <a:chExt cx="0" cy="0"/>
        </a:xfrm>
      </p:grpSpPr>
      <p:sp>
        <p:nvSpPr>
          <p:cNvPr id="2" name="Shape 0"/>
          <p:cNvSpPr/>
          <p:nvPr/>
        </p:nvSpPr>
        <p:spPr>
          <a:xfrm>
            <a:off x="5184648" y="1554480"/>
            <a:ext cx="1828800" cy="1828800"/>
          </a:xfrm>
          <a:prstGeom prst="roundRect">
            <a:avLst>
              <a:gd name="adj" fmla="val 9000"/>
            </a:avLst>
          </a:prstGeom>
          <a:solidFill>
            <a:srgbClr val="16304A"/>
          </a:solidFill>
          <a:ln w="19050">
            <a:solidFill>
              <a:srgbClr val="0F6E56"/>
            </a:solidFill>
            <a:prstDash val="solid"/>
          </a:ln>
        </p:spPr>
      </p:sp>
      <p:sp>
        <p:nvSpPr>
          <p:cNvPr id="3" name="Text 1"/>
          <p:cNvSpPr txBox="1"/>
          <p:nvPr/>
        </p:nvSpPr>
        <p:spPr>
          <a:xfrm>
            <a:off x="5184648" y="1554480"/>
            <a:ext cx="1828800" cy="1828800"/>
          </a:xfrm>
          <a:prstGeom prst="rect">
            <a:avLst/>
          </a:prstGeom>
          <a:noFill/>
          <a:ln/>
        </p:spPr>
        <p:txBody>
          <a:bodyPr wrap="square" lIns="0" tIns="0" rIns="0" bIns="0" rtlCol="0" anchor="ctr"/>
          <a:lstStyle/>
          <a:p>
            <a:pPr algn="ctr" indent="0" marL="0">
              <a:buNone/>
            </a:pPr>
            <a:r>
              <a:rPr lang="en-US" sz="3600" b="1" dirty="0">
                <a:solidFill>
                  <a:srgbClr val="0F6E56"/>
                </a:solidFill>
                <a:latin typeface="Cambria" pitchFamily="34" charset="0"/>
                <a:ea typeface="Cambria" pitchFamily="34" charset="-122"/>
                <a:cs typeface="Cambria" pitchFamily="34" charset="-120"/>
              </a:rPr>
              <a:t>VW</a:t>
            </a:r>
            <a:endParaRPr lang="en-US" sz="3600" dirty="0"/>
          </a:p>
        </p:txBody>
      </p:sp>
      <p:sp>
        <p:nvSpPr>
          <p:cNvPr id="4" name="Text 2"/>
          <p:cNvSpPr txBox="1"/>
          <p:nvPr/>
        </p:nvSpPr>
        <p:spPr>
          <a:xfrm>
            <a:off x="1527048" y="3703320"/>
            <a:ext cx="914400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5" name="Text 3"/>
          <p:cNvSpPr txBox="1"/>
          <p:nvPr/>
        </p:nvSpPr>
        <p:spPr>
          <a:xfrm>
            <a:off x="1527048" y="4617720"/>
            <a:ext cx="9144000" cy="45720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Implementing Security into a Secure Password Manager Application  —  Mohammed Ali</a:t>
            </a:r>
            <a:endParaRPr lang="en-US" sz="1400" dirty="0"/>
          </a:p>
        </p:txBody>
      </p:sp>
      <p:sp>
        <p:nvSpPr>
          <p:cNvPr id="6" name="Text 4"/>
          <p:cNvSpPr txBox="1"/>
          <p:nvPr/>
        </p:nvSpPr>
        <p:spPr>
          <a:xfrm>
            <a:off x="1527048" y="5074920"/>
            <a:ext cx="9144000" cy="457200"/>
          </a:xfrm>
          <a:prstGeom prst="rect">
            <a:avLst/>
          </a:prstGeom>
          <a:noFill/>
          <a:ln/>
        </p:spPr>
        <p:txBody>
          <a:bodyPr wrap="square" lIns="0" tIns="0" rIns="0" bIns="0" rtlCol="0" anchor="ctr"/>
          <a:lstStyle/>
          <a:p>
            <a:pPr algn="ctr" indent="0" marL="0">
              <a:buNone/>
            </a:pPr>
            <a:r>
              <a:rPr lang="en-US" sz="1200" i="1" dirty="0">
                <a:solidFill>
                  <a:srgbClr val="8FA3C4"/>
                </a:solidFill>
                <a:latin typeface="Calibri" pitchFamily="34" charset="0"/>
                <a:ea typeface="Calibri" pitchFamily="34" charset="-122"/>
                <a:cs typeface="Calibri" pitchFamily="34" charset="-120"/>
              </a:rPr>
              <a:t>Full evidence, diagrams, and test records available in the accompanying written report.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2026-09-19T17:57:54Z</dcterms:created>
  <dcterms:modified xsi:type="dcterms:W3CDTF">2026-09-19T17:57:54Z</dcterms:modified>
</cp:coreProperties>
</file>